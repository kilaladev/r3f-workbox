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7796DF66-6250-2C37-D077-93285EF8D5AB}">
          <p14:sldIdLst>
            <p14:sldId id="256"/>
          </p14:sldIdLst>
        </p14:section>
        <p14:section name="Ý tưởng" id="{5C1FAD96-AE49-7553-0BD2-3CF4B53797DB}">
          <p14:sldIdLst>
            <p14:sldId id="257"/>
          </p14:sldIdLst>
        </p14:section>
        <p14:section name="Từ ý tưởng đến code" id="{82C7FF9C-7A6C-B799-B903-FF37A6D323E1}">
          <p14:sldIdLst>
            <p14:sldId id="258"/>
            <p14:sldId id="259"/>
          </p14:sldIdLst>
        </p14:section>
        <p14:section name="Các bước phát triển" id="{96FE1143-CE3E-6EAA-AF39-88F34FBEFF2B}">
          <p14:sldIdLst>
            <p14:sldId id="260"/>
            <p14:sldId id="261"/>
            <p14:sldId id="262"/>
            <p14:sldId id="263"/>
            <p14:sldId id="264"/>
            <p14:sldId id="265"/>
          </p14:sldIdLst>
        </p14:section>
        <p14:section name="Kết luận" id="{6B16F355-61C0-0FC9-EB41-B8CE6CE557D0}">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2" d="100"/>
          <a:sy n="152" d="100"/>
        </p:scale>
        <p:origin x="444"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2184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bài thực hành hộp quà 3D bằng React Three Fiber, và cách phát triển nó từ ý tưởng đến code.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gốc chỉ có một góc nhìn cố định. Câu hỏi đặt ra: làm sao để hộp quà giống vật thật? Ngoài đời ta xoay quanh để ngắm và thấy ánh sáng thay đổi, nên có hai ý tưởng: xoay góc nhìn và dời đèn.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ý tưởng được biến thành một kỹ thuật cụ thể. Không cần thư viện vật lý: mọi chuyển động chỉ là lerp mỗi frame.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Mọi state nằm ở GiftScene. Các phần khác chỉ nhận props và gọi callback, nên bảng HTML ngoài Canvas vẫn điều khiển được cảnh 3D.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1 đến 4 theo slide hands-on. Bước 5 đến 8 là phần tự mở rộng. Mỗi bước đều chạy được trước khi làm bước sau.</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1 đến 3 dựng toàn bộ logic với hình khối đơn giản: state opened, lerp mỗi frame, rồi dùng chung state cho quả cầu.</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4 là bước cuối của bài gốc: thay hai khối hộp bằng mô hình GLB, logic giữ nguyên. Bước 5 bật bóng đổ vì mesh trong GLB mặc định không đổ bóng.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OrbitControls cho phép ngắm hộp từ mọi phía. Điểm cần chú ý: kéo chuột để xoay cũng sinh ra sự kiện click, nên kiểm tra e.delta để không mở hộp nhầm.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Vị trí đèn chỉ nằm ở một state. Thanh trượt và tay cầm trên bóng đèn đều ghi vào state đó nên luôn khớp nhau. Trong ảnh, đèn đã được dời ra sau nên bóng đổ chuyển sang phía trước.</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HTML đọc và đổi cùng state với cảnh 3D. Mỗi bước đều được kiểm tra bằng build và bằng cách đo vị trí thật của nắp và quả cầu.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điều rút ra. Cảm ơn và mời mọi người đặt câu hỏi.</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97280"/>
            <a:ext cx="4114800" cy="1463040"/>
          </a:xfrm>
          <a:prstGeom prst="rect">
            <a:avLst/>
          </a:prstGeom>
          <a:noFill/>
          <a:ln/>
        </p:spPr>
        <p:txBody>
          <a:bodyPr wrap="square" rtlCol="0"/>
          <a:lstStyle>
            <a:lvl1pPr marL="0" indent="0" algn="l">
              <a:buNone/>
              <a:defRPr lang="en-US" sz="4800" b="1" dirty="0">
                <a:solidFill>
                  <a:schemeClr val="bg1"/>
                </a:solidFill>
              </a:defRPr>
            </a:lvl1pPr>
          </a:lstStyle>
          <a:p>
            <a:pPr marL="0" indent="0" algn="l">
              <a:buNone/>
            </a:pPr>
            <a:endParaRPr lang="en-US" sz="4800" dirty="0"/>
          </a:p>
        </p:txBody>
      </p:sp>
      <p:sp>
        <p:nvSpPr>
          <p:cNvPr id="3" name="Text 0"/>
          <p:cNvSpPr>
            <a:spLocks noGrp="1"/>
          </p:cNvSpPr>
          <p:nvPr>
            <p:ph type="body" idx="101" hasCustomPrompt="1"/>
          </p:nvPr>
        </p:nvSpPr>
        <p:spPr>
          <a:xfrm>
            <a:off x="548640" y="2743200"/>
            <a:ext cx="4114800" cy="822960"/>
          </a:xfrm>
          <a:prstGeom prst="rect">
            <a:avLst/>
          </a:prstGeom>
          <a:noFill/>
          <a:ln/>
        </p:spPr>
        <p:txBody>
          <a:bodyPr wrap="square" rtlCol="0"/>
          <a:lstStyle>
            <a:lvl1pPr marL="0" indent="0">
              <a:buNone/>
              <a:defRPr lang="en-US" sz="2000" dirty="0">
                <a:solidFill>
                  <a:schemeClr val="accent5"/>
                </a:solidFill>
              </a:defRPr>
            </a:lvl1pPr>
          </a:lstStyle>
          <a:p>
            <a:pPr marL="0" indent="0">
              <a:buNone/>
            </a:pPr>
            <a:endParaRPr lang="en-US" sz="2000" dirty="0"/>
          </a:p>
        </p:txBody>
      </p:sp>
      <p:sp>
        <p:nvSpPr>
          <p:cNvPr id="4" name="Text 0"/>
          <p:cNvSpPr>
            <a:spLocks noGrp="1"/>
          </p:cNvSpPr>
          <p:nvPr>
            <p:ph type="body" idx="102" hasCustomPrompt="1"/>
          </p:nvPr>
        </p:nvSpPr>
        <p:spPr>
          <a:xfrm>
            <a:off x="548640" y="4160520"/>
            <a:ext cx="4114800" cy="365760"/>
          </a:xfrm>
          <a:prstGeom prst="rect">
            <a:avLst/>
          </a:prstGeom>
          <a:noFill/>
          <a:ln/>
        </p:spPr>
        <p:txBody>
          <a:bodyPr wrap="square" rtlCol="0"/>
          <a:lstStyle>
            <a:lvl1pPr marL="0" indent="0">
              <a:buNone/>
              <a:defRPr lang="en-US" sz="1400" dirty="0">
                <a:solidFill>
                  <a:schemeClr val="accent2"/>
                </a:solidFill>
              </a:defRPr>
            </a:lvl1pPr>
          </a:lstStyle>
          <a:p>
            <a:pPr marL="0" indent="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97280"/>
            <a:ext cx="4114800" cy="1463040"/>
          </a:xfrm>
          <a:prstGeom prst="rect">
            <a:avLst/>
          </a:prstGeom>
          <a:noFill/>
          <a:ln/>
        </p:spPr>
        <p:txBody>
          <a:bodyPr wrap="square" lIns="0" tIns="0" rIns="0" bIns="0" rtlCol="0" anchor="b"/>
          <a:lstStyle/>
          <a:p>
            <a:pPr marL="0" indent="0" algn="l">
              <a:buNone/>
            </a:pPr>
            <a:r>
              <a:rPr lang="en-US" sz="4800" b="1" dirty="0">
                <a:solidFill>
                  <a:schemeClr val="bg1"/>
                </a:solidFill>
              </a:rPr>
              <a:t>Hộp quà 3D</a:t>
            </a:r>
            <a:endParaRPr lang="en-US" sz="4800" dirty="0"/>
          </a:p>
        </p:txBody>
      </p:sp>
      <p:sp>
        <p:nvSpPr>
          <p:cNvPr id="3" name="Text 0"/>
          <p:cNvSpPr>
            <a:spLocks noGrp="1"/>
          </p:cNvSpPr>
          <p:nvPr>
            <p:ph type="body" idx="101" hasCustomPrompt="1"/>
          </p:nvPr>
        </p:nvSpPr>
        <p:spPr>
          <a:xfrm>
            <a:off x="548640" y="2743200"/>
            <a:ext cx="4114800" cy="822960"/>
          </a:xfrm>
          <a:prstGeom prst="rect">
            <a:avLst/>
          </a:prstGeom>
          <a:noFill/>
          <a:ln/>
        </p:spPr>
        <p:txBody>
          <a:bodyPr wrap="square" lIns="0" tIns="0" rIns="0" bIns="0" rtlCol="0" anchor="t"/>
          <a:lstStyle/>
          <a:p>
            <a:pPr marL="0" indent="0">
              <a:buNone/>
            </a:pPr>
            <a:r>
              <a:rPr lang="en-US" sz="2000" dirty="0">
                <a:solidFill>
                  <a:schemeClr val="accent5"/>
                </a:solidFill>
              </a:rPr>
              <a:t>Từ ý tưởng đến code</a:t>
            </a:r>
            <a:endParaRPr lang="en-US" sz="2000" dirty="0"/>
          </a:p>
          <a:p>
            <a:pPr marL="0" indent="0">
              <a:buNone/>
            </a:pPr>
            <a:r>
              <a:rPr lang="en-US" sz="2000" dirty="0">
                <a:solidFill>
                  <a:schemeClr val="accent5"/>
                </a:solidFill>
              </a:rPr>
              <a:t>với React Three Fiber</a:t>
            </a:r>
            <a:endParaRPr lang="en-US" sz="2000" dirty="0"/>
          </a:p>
        </p:txBody>
      </p:sp>
      <p:sp>
        <p:nvSpPr>
          <p:cNvPr id="4" name="Text 0"/>
          <p:cNvSpPr>
            <a:spLocks noGrp="1"/>
          </p:cNvSpPr>
          <p:nvPr>
            <p:ph type="body" idx="102" hasCustomPrompt="1"/>
          </p:nvPr>
        </p:nvSpPr>
        <p:spPr>
          <a:xfrm>
            <a:off x="548640" y="4160520"/>
            <a:ext cx="4114800" cy="365760"/>
          </a:xfrm>
          <a:prstGeom prst="rect">
            <a:avLst/>
          </a:prstGeom>
          <a:noFill/>
          <a:ln/>
        </p:spPr>
        <p:txBody>
          <a:bodyPr wrap="square" lIns="0" tIns="0" rIns="0" bIns="0" rtlCol="0" anchor="ctr"/>
          <a:lstStyle/>
          <a:p>
            <a:pPr marL="0" indent="0">
              <a:buNone/>
            </a:pPr>
            <a:r>
              <a:rPr lang="en-US" sz="1400" dirty="0">
                <a:solidFill>
                  <a:schemeClr val="accent2"/>
                </a:solidFill>
              </a:rPr>
              <a:t>ThuongTran · 10/2026</a:t>
            </a:r>
            <a:endParaRPr lang="en-US" sz="1400" dirty="0"/>
          </a:p>
        </p:txBody>
      </p:sp>
      <p:pic>
        <p:nvPicPr>
          <p:cNvPr id="5" name="hero" descr="C:\Users\tgtgcr\AppData\Local\Temp\claude\D--TgProject-Thuong-Bai-tap-ve-nha\3c19403e-e81d-4221-80a3-61a0f7f5d059\scratchpad\deck\img\hero.png"/>
          <p:cNvPicPr>
            <a:picLocks noChangeAspect="1"/>
          </p:cNvPicPr>
          <p:nvPr/>
        </p:nvPicPr>
        <p:blipFill>
          <a:blip r:embed="rId3"/>
          <a:stretch>
            <a:fillRect/>
          </a:stretch>
        </p:blipFill>
        <p:spPr>
          <a:xfrm>
            <a:off x="4937760" y="0"/>
            <a:ext cx="420624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Ý tưởng bắt đầu từ một câu hỏi</a:t>
            </a:r>
            <a:endParaRPr lang="en-US" sz="3400" dirty="0"/>
          </a:p>
        </p:txBody>
      </p:sp>
      <p:sp>
        <p:nvSpPr>
          <p:cNvPr id="3" name="card-goc"/>
          <p:cNvSpPr/>
          <p:nvPr/>
        </p:nvSpPr>
        <p:spPr>
          <a:xfrm>
            <a:off x="457200" y="1234440"/>
            <a:ext cx="2514600" cy="2468880"/>
          </a:xfrm>
          <a:prstGeom prst="roundRect">
            <a:avLst>
              <a:gd name="adj" fmla="val 3704"/>
            </a:avLst>
          </a:prstGeom>
          <a:solidFill>
            <a:schemeClr val="bg2"/>
          </a:solidFill>
          <a:ln w="12700">
            <a:solidFill>
              <a:schemeClr val="bg2"/>
            </a:solidFill>
            <a:prstDash val="solid"/>
          </a:ln>
        </p:spPr>
      </p:sp>
      <p:sp>
        <p:nvSpPr>
          <p:cNvPr id="4" name="card-cau-hoi"/>
          <p:cNvSpPr/>
          <p:nvPr/>
        </p:nvSpPr>
        <p:spPr>
          <a:xfrm>
            <a:off x="3314700" y="1234440"/>
            <a:ext cx="2514600" cy="2468880"/>
          </a:xfrm>
          <a:prstGeom prst="roundRect">
            <a:avLst>
              <a:gd name="adj" fmla="val 3704"/>
            </a:avLst>
          </a:prstGeom>
          <a:solidFill>
            <a:schemeClr val="bg2"/>
          </a:solidFill>
          <a:ln w="12700">
            <a:solidFill>
              <a:schemeClr val="bg2"/>
            </a:solidFill>
            <a:prstDash val="solid"/>
          </a:ln>
        </p:spPr>
      </p:sp>
      <p:sp>
        <p:nvSpPr>
          <p:cNvPr id="5" name="card-y-tuong"/>
          <p:cNvSpPr/>
          <p:nvPr/>
        </p:nvSpPr>
        <p:spPr>
          <a:xfrm>
            <a:off x="6172200" y="1234440"/>
            <a:ext cx="2514600" cy="2468880"/>
          </a:xfrm>
          <a:prstGeom prst="roundRect">
            <a:avLst>
              <a:gd name="adj" fmla="val 3704"/>
            </a:avLst>
          </a:prstGeom>
          <a:solidFill>
            <a:schemeClr val="accent1"/>
          </a:solidFill>
          <a:ln w="12700">
            <a:solidFill>
              <a:schemeClr val="accent1"/>
            </a:solidFill>
            <a:prstDash val="solid"/>
          </a:ln>
        </p:spPr>
      </p:sp>
      <p:sp>
        <p:nvSpPr>
          <p:cNvPr id="6" name="arrow"/>
          <p:cNvSpPr/>
          <p:nvPr/>
        </p:nvSpPr>
        <p:spPr>
          <a:xfrm>
            <a:off x="3003804" y="2313432"/>
            <a:ext cx="274320" cy="310896"/>
          </a:xfrm>
          <a:prstGeom prst="rightArrow">
            <a:avLst/>
          </a:prstGeom>
          <a:solidFill>
            <a:schemeClr val="accent1"/>
          </a:solidFill>
          <a:ln w="12700">
            <a:solidFill>
              <a:schemeClr val="accent1"/>
            </a:solidFill>
            <a:prstDash val="solid"/>
          </a:ln>
        </p:spPr>
      </p:sp>
      <p:sp>
        <p:nvSpPr>
          <p:cNvPr id="7" name="arrow"/>
          <p:cNvSpPr/>
          <p:nvPr/>
        </p:nvSpPr>
        <p:spPr>
          <a:xfrm>
            <a:off x="5861304" y="2313432"/>
            <a:ext cx="274320" cy="310896"/>
          </a:xfrm>
          <a:prstGeom prst="rightArrow">
            <a:avLst/>
          </a:prstGeom>
          <a:solidFill>
            <a:schemeClr val="accent1"/>
          </a:solidFill>
          <a:ln w="12700">
            <a:solidFill>
              <a:schemeClr val="accent1"/>
            </a:solidFill>
            <a:prstDash val="solid"/>
          </a:ln>
        </p:spPr>
      </p:sp>
      <p:sp>
        <p:nvSpPr>
          <p:cNvPr id="8" name="Text 6"/>
          <p:cNvSpPr txBox="1"/>
          <p:nvPr/>
        </p:nvSpPr>
        <p:spPr>
          <a:xfrm>
            <a:off x="658368" y="1417320"/>
            <a:ext cx="2112264" cy="320040"/>
          </a:xfrm>
          <a:prstGeom prst="rect">
            <a:avLst/>
          </a:prstGeom>
          <a:noFill/>
          <a:ln/>
        </p:spPr>
        <p:txBody>
          <a:bodyPr wrap="square" lIns="0" tIns="0" rIns="0" bIns="0" rtlCol="0" anchor="t"/>
          <a:lstStyle/>
          <a:p>
            <a:pPr marL="0" indent="0">
              <a:buNone/>
            </a:pPr>
            <a:r>
              <a:rPr lang="en-US" sz="1300" b="1" kern="0" spc="200" dirty="0">
                <a:solidFill>
                  <a:schemeClr val="accent1"/>
                </a:solidFill>
              </a:rPr>
              <a:t>BÀI GỐC</a:t>
            </a:r>
            <a:endParaRPr lang="en-US" sz="1300" dirty="0"/>
          </a:p>
        </p:txBody>
      </p:sp>
      <p:sp>
        <p:nvSpPr>
          <p:cNvPr id="9" name="Text 7"/>
          <p:cNvSpPr txBox="1"/>
          <p:nvPr/>
        </p:nvSpPr>
        <p:spPr>
          <a:xfrm>
            <a:off x="658368" y="1828800"/>
            <a:ext cx="2112264" cy="1737360"/>
          </a:xfrm>
          <a:prstGeom prst="rect">
            <a:avLst/>
          </a:prstGeom>
          <a:noFill/>
          <a:ln/>
        </p:spPr>
        <p:txBody>
          <a:bodyPr wrap="square" lIns="0" tIns="0" rIns="0" bIns="0" rtlCol="0" anchor="t"/>
          <a:lstStyle/>
          <a:p>
            <a:pPr marL="0" indent="0">
              <a:spcAft>
                <a:spcPts val="1200"/>
              </a:spcAft>
              <a:buNone/>
            </a:pPr>
            <a:r>
              <a:rPr lang="en-US" sz="1800" dirty="0">
                <a:solidFill>
                  <a:schemeClr val="tx1"/>
                </a:solidFill>
              </a:rPr>
              <a:t>Click hộp → nắp mở → quà nổi lên.</a:t>
            </a:r>
            <a:endParaRPr lang="en-US" sz="1800" dirty="0"/>
          </a:p>
          <a:p>
            <a:pPr marL="0" indent="0">
              <a:spcAft>
                <a:spcPts val="1200"/>
              </a:spcAft>
              <a:buNone/>
            </a:pPr>
            <a:r>
              <a:rPr lang="en-US" sz="1800" dirty="0">
                <a:solidFill>
                  <a:schemeClr val="tx1"/>
                </a:solidFill>
              </a:rPr>
              <a:t>Nhưng chỉ nhìn được từ một góc cố định.</a:t>
            </a:r>
            <a:endParaRPr lang="en-US" sz="1800" dirty="0"/>
          </a:p>
        </p:txBody>
      </p:sp>
      <p:sp>
        <p:nvSpPr>
          <p:cNvPr id="10" name="Text 8"/>
          <p:cNvSpPr txBox="1"/>
          <p:nvPr/>
        </p:nvSpPr>
        <p:spPr>
          <a:xfrm>
            <a:off x="3515868" y="1417320"/>
            <a:ext cx="2112264" cy="320040"/>
          </a:xfrm>
          <a:prstGeom prst="rect">
            <a:avLst/>
          </a:prstGeom>
          <a:noFill/>
          <a:ln/>
        </p:spPr>
        <p:txBody>
          <a:bodyPr wrap="square" lIns="0" tIns="0" rIns="0" bIns="0" rtlCol="0" anchor="t"/>
          <a:lstStyle/>
          <a:p>
            <a:pPr marL="0" indent="0">
              <a:buNone/>
            </a:pPr>
            <a:r>
              <a:rPr lang="en-US" sz="1300" b="1" kern="0" spc="200" dirty="0">
                <a:solidFill>
                  <a:schemeClr val="accent1"/>
                </a:solidFill>
              </a:rPr>
              <a:t>CÂU HỎI</a:t>
            </a:r>
            <a:endParaRPr lang="en-US" sz="1300" dirty="0"/>
          </a:p>
        </p:txBody>
      </p:sp>
      <p:sp>
        <p:nvSpPr>
          <p:cNvPr id="11" name="Text 9"/>
          <p:cNvSpPr txBox="1"/>
          <p:nvPr/>
        </p:nvSpPr>
        <p:spPr>
          <a:xfrm>
            <a:off x="3515868" y="1828800"/>
            <a:ext cx="2112264" cy="1737360"/>
          </a:xfrm>
          <a:prstGeom prst="rect">
            <a:avLst/>
          </a:prstGeom>
          <a:noFill/>
          <a:ln/>
        </p:spPr>
        <p:txBody>
          <a:bodyPr wrap="square" lIns="0" tIns="0" rIns="0" bIns="0" rtlCol="0" anchor="t"/>
          <a:lstStyle/>
          <a:p>
            <a:pPr marL="0" indent="0">
              <a:buNone/>
            </a:pPr>
            <a:r>
              <a:rPr lang="en-US" sz="2200" b="1" i="1" dirty="0">
                <a:solidFill>
                  <a:schemeClr val="tx2"/>
                </a:solidFill>
              </a:rPr>
              <a:t>Làm sao để hộp quà trông như một vật thật?</a:t>
            </a:r>
            <a:endParaRPr lang="en-US" sz="2200" dirty="0"/>
          </a:p>
        </p:txBody>
      </p:sp>
      <p:sp>
        <p:nvSpPr>
          <p:cNvPr id="12" name="Text 10"/>
          <p:cNvSpPr txBox="1"/>
          <p:nvPr/>
        </p:nvSpPr>
        <p:spPr>
          <a:xfrm>
            <a:off x="6373368" y="1417320"/>
            <a:ext cx="2112264" cy="320040"/>
          </a:xfrm>
          <a:prstGeom prst="rect">
            <a:avLst/>
          </a:prstGeom>
          <a:noFill/>
          <a:ln/>
        </p:spPr>
        <p:txBody>
          <a:bodyPr wrap="square" lIns="0" tIns="0" rIns="0" bIns="0" rtlCol="0" anchor="t"/>
          <a:lstStyle/>
          <a:p>
            <a:pPr marL="0" indent="0">
              <a:buNone/>
            </a:pPr>
            <a:r>
              <a:rPr lang="en-US" sz="1300" b="1" kern="0" spc="200" dirty="0">
                <a:solidFill>
                  <a:schemeClr val="bg1"/>
                </a:solidFill>
              </a:rPr>
              <a:t>Ý TƯỞNG</a:t>
            </a:r>
            <a:endParaRPr lang="en-US" sz="1300" dirty="0"/>
          </a:p>
        </p:txBody>
      </p:sp>
      <p:sp>
        <p:nvSpPr>
          <p:cNvPr id="13" name="Text 11"/>
          <p:cNvSpPr txBox="1"/>
          <p:nvPr/>
        </p:nvSpPr>
        <p:spPr>
          <a:xfrm>
            <a:off x="6373368" y="1828800"/>
            <a:ext cx="2112264" cy="1737360"/>
          </a:xfrm>
          <a:prstGeom prst="rect">
            <a:avLst/>
          </a:prstGeom>
          <a:noFill/>
          <a:ln/>
        </p:spPr>
        <p:txBody>
          <a:bodyPr wrap="square" lIns="0" tIns="0" rIns="0" bIns="0" rtlCol="0" anchor="t"/>
          <a:lstStyle/>
          <a:p>
            <a:pPr marL="0" indent="0">
              <a:spcAft>
                <a:spcPts val="1200"/>
              </a:spcAft>
              <a:buNone/>
            </a:pPr>
            <a:r>
              <a:rPr lang="en-US" sz="1800" b="1" dirty="0">
                <a:solidFill>
                  <a:schemeClr val="bg1"/>
                </a:solidFill>
              </a:rPr>
              <a:t>1. Xoay quanh để ngắm mọi phía</a:t>
            </a:r>
            <a:endParaRPr lang="en-US" sz="1800" dirty="0"/>
          </a:p>
          <a:p>
            <a:pPr marL="0" indent="0">
              <a:spcAft>
                <a:spcPts val="1200"/>
              </a:spcAft>
              <a:buNone/>
            </a:pPr>
            <a:r>
              <a:rPr lang="en-US" sz="1800" b="1" dirty="0">
                <a:solidFill>
                  <a:schemeClr val="bg1"/>
                </a:solidFill>
              </a:rPr>
              <a:t>2. Dời đèn để thấy ánh sáng và bóng đổ thay đổi</a:t>
            </a:r>
            <a:endParaRPr lang="en-US" sz="1800" dirty="0"/>
          </a:p>
        </p:txBody>
      </p:sp>
      <p:sp>
        <p:nvSpPr>
          <p:cNvPr id="14" name="badge-!"/>
          <p:cNvSpPr/>
          <p:nvPr/>
        </p:nvSpPr>
        <p:spPr>
          <a:xfrm>
            <a:off x="457200" y="4041648"/>
            <a:ext cx="384048" cy="384048"/>
          </a:xfrm>
          <a:prstGeom prst="ellipse">
            <a:avLst/>
          </a:prstGeom>
          <a:solidFill>
            <a:schemeClr val="accent2"/>
          </a:solidFill>
          <a:ln w="12700">
            <a:solidFill>
              <a:schemeClr val="accent2"/>
            </a:solidFill>
            <a:prstDash val="solid"/>
          </a:ln>
        </p:spPr>
      </p:sp>
      <p:sp>
        <p:nvSpPr>
          <p:cNvPr id="15" name="Text 13"/>
          <p:cNvSpPr txBox="1"/>
          <p:nvPr/>
        </p:nvSpPr>
        <p:spPr>
          <a:xfrm>
            <a:off x="457200" y="4041648"/>
            <a:ext cx="384048" cy="384048"/>
          </a:xfrm>
          <a:prstGeom prst="rect">
            <a:avLst/>
          </a:prstGeom>
          <a:noFill/>
          <a:ln/>
        </p:spPr>
        <p:txBody>
          <a:bodyPr wrap="square" lIns="0" tIns="0" rIns="0" bIns="0" rtlCol="0" anchor="ctr"/>
          <a:lstStyle/>
          <a:p>
            <a:pPr marL="0" indent="0" algn="ctr">
              <a:buNone/>
            </a:pPr>
            <a:r>
              <a:rPr lang="en-US" sz="1600" b="1" dirty="0">
                <a:solidFill>
                  <a:schemeClr val="tx2"/>
                </a:solidFill>
              </a:rPr>
              <a:t>!</a:t>
            </a:r>
            <a:endParaRPr lang="en-US" sz="1600" dirty="0"/>
          </a:p>
        </p:txBody>
      </p:sp>
      <p:sp>
        <p:nvSpPr>
          <p:cNvPr id="16" name="Text 14"/>
          <p:cNvSpPr txBox="1"/>
          <p:nvPr/>
        </p:nvSpPr>
        <p:spPr>
          <a:xfrm>
            <a:off x="978408" y="4041648"/>
            <a:ext cx="7708392" cy="384048"/>
          </a:xfrm>
          <a:prstGeom prst="rect">
            <a:avLst/>
          </a:prstGeom>
          <a:noFill/>
          <a:ln/>
        </p:spPr>
        <p:txBody>
          <a:bodyPr wrap="square" lIns="0" tIns="0" rIns="0" bIns="0" rtlCol="0" anchor="ctr"/>
          <a:lstStyle/>
          <a:p>
            <a:pPr marL="0" indent="0">
              <a:buNone/>
            </a:pPr>
            <a:r>
              <a:rPr lang="en-US" sz="1600" b="1" dirty="0">
                <a:solidFill>
                  <a:schemeClr val="tx2"/>
                </a:solidFill>
              </a:rPr>
              <a:t>Nguyên tắc: </a:t>
            </a:r>
            <a:r>
              <a:rPr lang="en-US" sz="1600" dirty="0">
                <a:solidFill>
                  <a:schemeClr val="tx2"/>
                </a:solidFill>
              </a:rPr>
              <a:t>thêm tính năng mới nhưng không phá logic mở/đóng hộp của bài gốc.</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Mỗi ý tưởng, một kỹ thuật</a:t>
            </a:r>
            <a:endParaRPr lang="en-US" sz="3400" dirty="0"/>
          </a:p>
        </p:txBody>
      </p:sp>
      <p:sp>
        <p:nvSpPr>
          <p:cNvPr id="3" name="Text 1"/>
          <p:cNvSpPr txBox="1"/>
          <p:nvPr/>
        </p:nvSpPr>
        <p:spPr>
          <a:xfrm>
            <a:off x="457200" y="1115568"/>
            <a:ext cx="3383280" cy="274320"/>
          </a:xfrm>
          <a:prstGeom prst="rect">
            <a:avLst/>
          </a:prstGeom>
          <a:noFill/>
          <a:ln/>
        </p:spPr>
        <p:txBody>
          <a:bodyPr wrap="square" lIns="0" tIns="0" rIns="0" bIns="0" rtlCol="0" anchor="t"/>
          <a:lstStyle/>
          <a:p>
            <a:pPr marL="0" indent="0">
              <a:buNone/>
            </a:pPr>
            <a:r>
              <a:rPr lang="en-US" sz="1200" b="1" kern="0" spc="200" dirty="0">
                <a:solidFill>
                  <a:schemeClr val="accent6"/>
                </a:solidFill>
              </a:rPr>
              <a:t>Ý TƯỞNG</a:t>
            </a:r>
            <a:endParaRPr lang="en-US" sz="1200" dirty="0"/>
          </a:p>
        </p:txBody>
      </p:sp>
      <p:sp>
        <p:nvSpPr>
          <p:cNvPr id="4" name="Text 2"/>
          <p:cNvSpPr txBox="1"/>
          <p:nvPr/>
        </p:nvSpPr>
        <p:spPr>
          <a:xfrm>
            <a:off x="4480560" y="1115568"/>
            <a:ext cx="4206240" cy="274320"/>
          </a:xfrm>
          <a:prstGeom prst="rect">
            <a:avLst/>
          </a:prstGeom>
          <a:noFill/>
          <a:ln/>
        </p:spPr>
        <p:txBody>
          <a:bodyPr wrap="square" lIns="0" tIns="0" rIns="0" bIns="0" rtlCol="0" anchor="t"/>
          <a:lstStyle/>
          <a:p>
            <a:pPr marL="0" indent="0">
              <a:buNone/>
            </a:pPr>
            <a:r>
              <a:rPr lang="en-US" sz="1200" b="1" kern="0" spc="200" dirty="0">
                <a:solidFill>
                  <a:schemeClr val="accent6"/>
                </a:solidFill>
              </a:rPr>
              <a:t>KỸ THUẬT TRONG CODE</a:t>
            </a:r>
            <a:endParaRPr lang="en-US" sz="1200" dirty="0"/>
          </a:p>
        </p:txBody>
      </p:sp>
      <p:sp>
        <p:nvSpPr>
          <p:cNvPr id="5" name="idea-1"/>
          <p:cNvSpPr/>
          <p:nvPr/>
        </p:nvSpPr>
        <p:spPr>
          <a:xfrm>
            <a:off x="457200" y="1463040"/>
            <a:ext cx="3383280" cy="475488"/>
          </a:xfrm>
          <a:prstGeom prst="roundRect">
            <a:avLst>
              <a:gd name="adj" fmla="val 19231"/>
            </a:avLst>
          </a:prstGeom>
          <a:solidFill>
            <a:schemeClr val="bg2"/>
          </a:solidFill>
          <a:ln w="12700">
            <a:solidFill>
              <a:schemeClr val="bg2"/>
            </a:solidFill>
            <a:prstDash val="solid"/>
          </a:ln>
        </p:spPr>
      </p:sp>
      <p:sp>
        <p:nvSpPr>
          <p:cNvPr id="6" name="Text 4"/>
          <p:cNvSpPr txBox="1"/>
          <p:nvPr/>
        </p:nvSpPr>
        <p:spPr>
          <a:xfrm>
            <a:off x="640080" y="1463040"/>
            <a:ext cx="3108960" cy="475488"/>
          </a:xfrm>
          <a:prstGeom prst="rect">
            <a:avLst/>
          </a:prstGeom>
          <a:noFill/>
          <a:ln/>
        </p:spPr>
        <p:txBody>
          <a:bodyPr wrap="square" lIns="0" tIns="0" rIns="0" bIns="0" rtlCol="0" anchor="ctr"/>
          <a:lstStyle/>
          <a:p>
            <a:pPr marL="0" indent="0">
              <a:buNone/>
            </a:pPr>
            <a:r>
              <a:rPr lang="en-US" sz="1600" dirty="0">
                <a:solidFill>
                  <a:schemeClr val="tx1"/>
                </a:solidFill>
              </a:rPr>
              <a:t>Nắp mở mượt như thật</a:t>
            </a:r>
            <a:endParaRPr lang="en-US" sz="1600" dirty="0"/>
          </a:p>
        </p:txBody>
      </p:sp>
      <p:sp>
        <p:nvSpPr>
          <p:cNvPr id="7" name="map-arrow-1"/>
          <p:cNvSpPr/>
          <p:nvPr/>
        </p:nvSpPr>
        <p:spPr>
          <a:xfrm>
            <a:off x="3959352" y="1563624"/>
            <a:ext cx="384048" cy="274320"/>
          </a:xfrm>
          <a:prstGeom prst="rightArrow">
            <a:avLst/>
          </a:prstGeom>
          <a:solidFill>
            <a:schemeClr val="accent1"/>
          </a:solidFill>
          <a:ln w="12700">
            <a:solidFill>
              <a:schemeClr val="accent1"/>
            </a:solidFill>
            <a:prstDash val="solid"/>
          </a:ln>
        </p:spPr>
      </p:sp>
      <p:sp>
        <p:nvSpPr>
          <p:cNvPr id="8" name="tech-1"/>
          <p:cNvSpPr/>
          <p:nvPr/>
        </p:nvSpPr>
        <p:spPr>
          <a:xfrm>
            <a:off x="4480560" y="1463040"/>
            <a:ext cx="4206240" cy="475488"/>
          </a:xfrm>
          <a:prstGeom prst="roundRect">
            <a:avLst>
              <a:gd name="adj" fmla="val 19231"/>
            </a:avLst>
          </a:prstGeom>
          <a:solidFill>
            <a:schemeClr val="tx2"/>
          </a:solidFill>
          <a:ln w="12700">
            <a:solidFill>
              <a:schemeClr val="tx2"/>
            </a:solidFill>
            <a:prstDash val="solid"/>
          </a:ln>
        </p:spPr>
      </p:sp>
      <p:sp>
        <p:nvSpPr>
          <p:cNvPr id="9" name="Text 7"/>
          <p:cNvSpPr txBox="1"/>
          <p:nvPr/>
        </p:nvSpPr>
        <p:spPr>
          <a:xfrm>
            <a:off x="4663440" y="1463040"/>
            <a:ext cx="3931920" cy="475488"/>
          </a:xfrm>
          <a:prstGeom prst="rect">
            <a:avLst/>
          </a:prstGeom>
          <a:noFill/>
          <a:ln/>
        </p:spPr>
        <p:txBody>
          <a:bodyPr wrap="square" lIns="0" tIns="0" rIns="0" bIns="0" rtlCol="0" anchor="ctr"/>
          <a:lstStyle/>
          <a:p>
            <a:pPr marL="0" indent="0">
              <a:buNone/>
            </a:pPr>
            <a:r>
              <a:rPr lang="en-US" sz="1400" dirty="0">
                <a:solidFill>
                  <a:schemeClr val="bg1"/>
                </a:solidFill>
                <a:latin typeface="Consolas" pitchFamily="34" charset="0"/>
                <a:ea typeface="Consolas" pitchFamily="34" charset="-122"/>
                <a:cs typeface="Consolas" pitchFamily="34" charset="-120"/>
              </a:rPr>
              <a:t>useFrame + lerp</a:t>
            </a:r>
            <a:endParaRPr lang="en-US" sz="1400" dirty="0"/>
          </a:p>
        </p:txBody>
      </p:sp>
      <p:sp>
        <p:nvSpPr>
          <p:cNvPr id="10" name="idea-2"/>
          <p:cNvSpPr/>
          <p:nvPr/>
        </p:nvSpPr>
        <p:spPr>
          <a:xfrm>
            <a:off x="457200" y="2084832"/>
            <a:ext cx="3383280" cy="475488"/>
          </a:xfrm>
          <a:prstGeom prst="roundRect">
            <a:avLst>
              <a:gd name="adj" fmla="val 19231"/>
            </a:avLst>
          </a:prstGeom>
          <a:solidFill>
            <a:schemeClr val="bg2"/>
          </a:solidFill>
          <a:ln w="12700">
            <a:solidFill>
              <a:schemeClr val="bg2"/>
            </a:solidFill>
            <a:prstDash val="solid"/>
          </a:ln>
        </p:spPr>
      </p:sp>
      <p:sp>
        <p:nvSpPr>
          <p:cNvPr id="11" name="Text 9"/>
          <p:cNvSpPr txBox="1"/>
          <p:nvPr/>
        </p:nvSpPr>
        <p:spPr>
          <a:xfrm>
            <a:off x="640080" y="2084832"/>
            <a:ext cx="3108960" cy="475488"/>
          </a:xfrm>
          <a:prstGeom prst="rect">
            <a:avLst/>
          </a:prstGeom>
          <a:noFill/>
          <a:ln/>
        </p:spPr>
        <p:txBody>
          <a:bodyPr wrap="square" lIns="0" tIns="0" rIns="0" bIns="0" rtlCol="0" anchor="ctr"/>
          <a:lstStyle/>
          <a:p>
            <a:pPr marL="0" indent="0">
              <a:buNone/>
            </a:pPr>
            <a:r>
              <a:rPr lang="en-US" sz="1600" dirty="0">
                <a:solidFill>
                  <a:schemeClr val="tx1"/>
                </a:solidFill>
              </a:rPr>
              <a:t>Hộp quà trông thật</a:t>
            </a:r>
            <a:endParaRPr lang="en-US" sz="1600" dirty="0"/>
          </a:p>
        </p:txBody>
      </p:sp>
      <p:sp>
        <p:nvSpPr>
          <p:cNvPr id="12" name="map-arrow-2"/>
          <p:cNvSpPr/>
          <p:nvPr/>
        </p:nvSpPr>
        <p:spPr>
          <a:xfrm>
            <a:off x="3959352" y="2185416"/>
            <a:ext cx="384048" cy="274320"/>
          </a:xfrm>
          <a:prstGeom prst="rightArrow">
            <a:avLst/>
          </a:prstGeom>
          <a:solidFill>
            <a:schemeClr val="accent1"/>
          </a:solidFill>
          <a:ln w="12700">
            <a:solidFill>
              <a:schemeClr val="accent1"/>
            </a:solidFill>
            <a:prstDash val="solid"/>
          </a:ln>
        </p:spPr>
      </p:sp>
      <p:sp>
        <p:nvSpPr>
          <p:cNvPr id="13" name="tech-2"/>
          <p:cNvSpPr/>
          <p:nvPr/>
        </p:nvSpPr>
        <p:spPr>
          <a:xfrm>
            <a:off x="4480560" y="2084832"/>
            <a:ext cx="4206240" cy="475488"/>
          </a:xfrm>
          <a:prstGeom prst="roundRect">
            <a:avLst>
              <a:gd name="adj" fmla="val 19231"/>
            </a:avLst>
          </a:prstGeom>
          <a:solidFill>
            <a:schemeClr val="tx2"/>
          </a:solidFill>
          <a:ln w="12700">
            <a:solidFill>
              <a:schemeClr val="tx2"/>
            </a:solidFill>
            <a:prstDash val="solid"/>
          </a:ln>
        </p:spPr>
      </p:sp>
      <p:sp>
        <p:nvSpPr>
          <p:cNvPr id="14" name="Text 12"/>
          <p:cNvSpPr txBox="1"/>
          <p:nvPr/>
        </p:nvSpPr>
        <p:spPr>
          <a:xfrm>
            <a:off x="4663440" y="2084832"/>
            <a:ext cx="3931920" cy="475488"/>
          </a:xfrm>
          <a:prstGeom prst="rect">
            <a:avLst/>
          </a:prstGeom>
          <a:noFill/>
          <a:ln/>
        </p:spPr>
        <p:txBody>
          <a:bodyPr wrap="square" lIns="0" tIns="0" rIns="0" bIns="0" rtlCol="0" anchor="ctr"/>
          <a:lstStyle/>
          <a:p>
            <a:pPr marL="0" indent="0">
              <a:buNone/>
            </a:pPr>
            <a:r>
              <a:rPr lang="en-US" sz="1400" dirty="0">
                <a:solidFill>
                  <a:schemeClr val="bg1"/>
                </a:solidFill>
                <a:latin typeface="Consolas" pitchFamily="34" charset="0"/>
                <a:ea typeface="Consolas" pitchFamily="34" charset="-122"/>
                <a:cs typeface="Consolas" pitchFamily="34" charset="-120"/>
              </a:rPr>
              <a:t>useGLTF (mô hình GLB) + castShadow</a:t>
            </a:r>
            <a:endParaRPr lang="en-US" sz="1400" dirty="0"/>
          </a:p>
        </p:txBody>
      </p:sp>
      <p:sp>
        <p:nvSpPr>
          <p:cNvPr id="15" name="idea-3"/>
          <p:cNvSpPr/>
          <p:nvPr/>
        </p:nvSpPr>
        <p:spPr>
          <a:xfrm>
            <a:off x="457200" y="2706624"/>
            <a:ext cx="3383280" cy="475488"/>
          </a:xfrm>
          <a:prstGeom prst="roundRect">
            <a:avLst>
              <a:gd name="adj" fmla="val 19231"/>
            </a:avLst>
          </a:prstGeom>
          <a:solidFill>
            <a:schemeClr val="bg2"/>
          </a:solidFill>
          <a:ln w="12700">
            <a:solidFill>
              <a:schemeClr val="bg2"/>
            </a:solidFill>
            <a:prstDash val="solid"/>
          </a:ln>
        </p:spPr>
      </p:sp>
      <p:sp>
        <p:nvSpPr>
          <p:cNvPr id="16" name="Text 14"/>
          <p:cNvSpPr txBox="1"/>
          <p:nvPr/>
        </p:nvSpPr>
        <p:spPr>
          <a:xfrm>
            <a:off x="640080" y="2706624"/>
            <a:ext cx="3108960" cy="475488"/>
          </a:xfrm>
          <a:prstGeom prst="rect">
            <a:avLst/>
          </a:prstGeom>
          <a:noFill/>
          <a:ln/>
        </p:spPr>
        <p:txBody>
          <a:bodyPr wrap="square" lIns="0" tIns="0" rIns="0" bIns="0" rtlCol="0" anchor="ctr"/>
          <a:lstStyle/>
          <a:p>
            <a:pPr marL="0" indent="0">
              <a:buNone/>
            </a:pPr>
            <a:r>
              <a:rPr lang="en-US" sz="1600" dirty="0">
                <a:solidFill>
                  <a:schemeClr val="tx1"/>
                </a:solidFill>
              </a:rPr>
              <a:t>Ngắm từ mọi phía</a:t>
            </a:r>
            <a:endParaRPr lang="en-US" sz="1600" dirty="0"/>
          </a:p>
        </p:txBody>
      </p:sp>
      <p:sp>
        <p:nvSpPr>
          <p:cNvPr id="17" name="map-arrow-3"/>
          <p:cNvSpPr/>
          <p:nvPr/>
        </p:nvSpPr>
        <p:spPr>
          <a:xfrm>
            <a:off x="3959352" y="2807208"/>
            <a:ext cx="384048" cy="274320"/>
          </a:xfrm>
          <a:prstGeom prst="rightArrow">
            <a:avLst/>
          </a:prstGeom>
          <a:solidFill>
            <a:schemeClr val="accent1"/>
          </a:solidFill>
          <a:ln w="12700">
            <a:solidFill>
              <a:schemeClr val="accent1"/>
            </a:solidFill>
            <a:prstDash val="solid"/>
          </a:ln>
        </p:spPr>
      </p:sp>
      <p:sp>
        <p:nvSpPr>
          <p:cNvPr id="18" name="tech-3"/>
          <p:cNvSpPr/>
          <p:nvPr/>
        </p:nvSpPr>
        <p:spPr>
          <a:xfrm>
            <a:off x="4480560" y="2706624"/>
            <a:ext cx="4206240" cy="475488"/>
          </a:xfrm>
          <a:prstGeom prst="roundRect">
            <a:avLst>
              <a:gd name="adj" fmla="val 19231"/>
            </a:avLst>
          </a:prstGeom>
          <a:solidFill>
            <a:schemeClr val="tx2"/>
          </a:solidFill>
          <a:ln w="12700">
            <a:solidFill>
              <a:schemeClr val="tx2"/>
            </a:solidFill>
            <a:prstDash val="solid"/>
          </a:ln>
        </p:spPr>
      </p:sp>
      <p:sp>
        <p:nvSpPr>
          <p:cNvPr id="19" name="Text 17"/>
          <p:cNvSpPr txBox="1"/>
          <p:nvPr/>
        </p:nvSpPr>
        <p:spPr>
          <a:xfrm>
            <a:off x="4663440" y="2706624"/>
            <a:ext cx="3931920" cy="475488"/>
          </a:xfrm>
          <a:prstGeom prst="rect">
            <a:avLst/>
          </a:prstGeom>
          <a:noFill/>
          <a:ln/>
        </p:spPr>
        <p:txBody>
          <a:bodyPr wrap="square" lIns="0" tIns="0" rIns="0" bIns="0" rtlCol="0" anchor="ctr"/>
          <a:lstStyle/>
          <a:p>
            <a:pPr marL="0" indent="0">
              <a:buNone/>
            </a:pPr>
            <a:r>
              <a:rPr lang="en-US" sz="1400" dirty="0">
                <a:solidFill>
                  <a:schemeClr val="bg1"/>
                </a:solidFill>
                <a:latin typeface="Consolas" pitchFamily="34" charset="0"/>
                <a:ea typeface="Consolas" pitchFamily="34" charset="-122"/>
                <a:cs typeface="Consolas" pitchFamily="34" charset="-120"/>
              </a:rPr>
              <a:t>OrbitControls</a:t>
            </a:r>
            <a:endParaRPr lang="en-US" sz="1400" dirty="0"/>
          </a:p>
        </p:txBody>
      </p:sp>
      <p:sp>
        <p:nvSpPr>
          <p:cNvPr id="20" name="idea-4"/>
          <p:cNvSpPr/>
          <p:nvPr/>
        </p:nvSpPr>
        <p:spPr>
          <a:xfrm>
            <a:off x="457200" y="3328416"/>
            <a:ext cx="3383280" cy="475488"/>
          </a:xfrm>
          <a:prstGeom prst="roundRect">
            <a:avLst>
              <a:gd name="adj" fmla="val 19231"/>
            </a:avLst>
          </a:prstGeom>
          <a:solidFill>
            <a:schemeClr val="bg2"/>
          </a:solidFill>
          <a:ln w="12700">
            <a:solidFill>
              <a:schemeClr val="bg2"/>
            </a:solidFill>
            <a:prstDash val="solid"/>
          </a:ln>
        </p:spPr>
      </p:sp>
      <p:sp>
        <p:nvSpPr>
          <p:cNvPr id="21" name="Text 19"/>
          <p:cNvSpPr txBox="1"/>
          <p:nvPr/>
        </p:nvSpPr>
        <p:spPr>
          <a:xfrm>
            <a:off x="640080" y="3328416"/>
            <a:ext cx="3108960" cy="475488"/>
          </a:xfrm>
          <a:prstGeom prst="rect">
            <a:avLst/>
          </a:prstGeom>
          <a:noFill/>
          <a:ln/>
        </p:spPr>
        <p:txBody>
          <a:bodyPr wrap="square" lIns="0" tIns="0" rIns="0" bIns="0" rtlCol="0" anchor="ctr"/>
          <a:lstStyle/>
          <a:p>
            <a:pPr marL="0" indent="0">
              <a:buNone/>
            </a:pPr>
            <a:r>
              <a:rPr lang="en-US" sz="1600" dirty="0">
                <a:solidFill>
                  <a:schemeClr val="tx1"/>
                </a:solidFill>
              </a:rPr>
              <a:t>Ánh sáng thay đổi được</a:t>
            </a:r>
            <a:endParaRPr lang="en-US" sz="1600" dirty="0"/>
          </a:p>
        </p:txBody>
      </p:sp>
      <p:sp>
        <p:nvSpPr>
          <p:cNvPr id="22" name="map-arrow-4"/>
          <p:cNvSpPr/>
          <p:nvPr/>
        </p:nvSpPr>
        <p:spPr>
          <a:xfrm>
            <a:off x="3959352" y="3429000"/>
            <a:ext cx="384048" cy="274320"/>
          </a:xfrm>
          <a:prstGeom prst="rightArrow">
            <a:avLst/>
          </a:prstGeom>
          <a:solidFill>
            <a:schemeClr val="accent1"/>
          </a:solidFill>
          <a:ln w="12700">
            <a:solidFill>
              <a:schemeClr val="accent1"/>
            </a:solidFill>
            <a:prstDash val="solid"/>
          </a:ln>
        </p:spPr>
      </p:sp>
      <p:sp>
        <p:nvSpPr>
          <p:cNvPr id="23" name="tech-4"/>
          <p:cNvSpPr/>
          <p:nvPr/>
        </p:nvSpPr>
        <p:spPr>
          <a:xfrm>
            <a:off x="4480560" y="3328416"/>
            <a:ext cx="4206240" cy="475488"/>
          </a:xfrm>
          <a:prstGeom prst="roundRect">
            <a:avLst>
              <a:gd name="adj" fmla="val 19231"/>
            </a:avLst>
          </a:prstGeom>
          <a:solidFill>
            <a:schemeClr val="tx2"/>
          </a:solidFill>
          <a:ln w="12700">
            <a:solidFill>
              <a:schemeClr val="tx2"/>
            </a:solidFill>
            <a:prstDash val="solid"/>
          </a:ln>
        </p:spPr>
      </p:sp>
      <p:sp>
        <p:nvSpPr>
          <p:cNvPr id="24" name="Text 22"/>
          <p:cNvSpPr txBox="1"/>
          <p:nvPr/>
        </p:nvSpPr>
        <p:spPr>
          <a:xfrm>
            <a:off x="4663440" y="3328416"/>
            <a:ext cx="3931920" cy="475488"/>
          </a:xfrm>
          <a:prstGeom prst="rect">
            <a:avLst/>
          </a:prstGeom>
          <a:noFill/>
          <a:ln/>
        </p:spPr>
        <p:txBody>
          <a:bodyPr wrap="square" lIns="0" tIns="0" rIns="0" bIns="0" rtlCol="0" anchor="ctr"/>
          <a:lstStyle/>
          <a:p>
            <a:pPr marL="0" indent="0">
              <a:buNone/>
            </a:pPr>
            <a:r>
              <a:rPr lang="en-US" sz="1400" dirty="0">
                <a:solidFill>
                  <a:schemeClr val="bg1"/>
                </a:solidFill>
                <a:latin typeface="Consolas" pitchFamily="34" charset="0"/>
                <a:ea typeface="Consolas" pitchFamily="34" charset="-122"/>
                <a:cs typeface="Consolas" pitchFamily="34" charset="-120"/>
              </a:rPr>
              <a:t>directionalLight + PivotControls</a:t>
            </a:r>
            <a:endParaRPr lang="en-US" sz="1400" dirty="0"/>
          </a:p>
        </p:txBody>
      </p:sp>
      <p:sp>
        <p:nvSpPr>
          <p:cNvPr id="25" name="idea-5"/>
          <p:cNvSpPr/>
          <p:nvPr/>
        </p:nvSpPr>
        <p:spPr>
          <a:xfrm>
            <a:off x="457200" y="3950208"/>
            <a:ext cx="3383280" cy="475488"/>
          </a:xfrm>
          <a:prstGeom prst="roundRect">
            <a:avLst>
              <a:gd name="adj" fmla="val 19231"/>
            </a:avLst>
          </a:prstGeom>
          <a:solidFill>
            <a:schemeClr val="bg2"/>
          </a:solidFill>
          <a:ln w="12700">
            <a:solidFill>
              <a:schemeClr val="bg2"/>
            </a:solidFill>
            <a:prstDash val="solid"/>
          </a:ln>
        </p:spPr>
      </p:sp>
      <p:sp>
        <p:nvSpPr>
          <p:cNvPr id="26" name="Text 24"/>
          <p:cNvSpPr txBox="1"/>
          <p:nvPr/>
        </p:nvSpPr>
        <p:spPr>
          <a:xfrm>
            <a:off x="640080" y="3950208"/>
            <a:ext cx="3108960" cy="475488"/>
          </a:xfrm>
          <a:prstGeom prst="rect">
            <a:avLst/>
          </a:prstGeom>
          <a:noFill/>
          <a:ln/>
        </p:spPr>
        <p:txBody>
          <a:bodyPr wrap="square" lIns="0" tIns="0" rIns="0" bIns="0" rtlCol="0" anchor="ctr"/>
          <a:lstStyle/>
          <a:p>
            <a:pPr marL="0" indent="0">
              <a:buNone/>
            </a:pPr>
            <a:r>
              <a:rPr lang="en-US" sz="1600" dirty="0">
                <a:solidFill>
                  <a:schemeClr val="tx1"/>
                </a:solidFill>
              </a:rPr>
              <a:t>Không bấm nhầm khi kéo</a:t>
            </a:r>
            <a:endParaRPr lang="en-US" sz="1600" dirty="0"/>
          </a:p>
        </p:txBody>
      </p:sp>
      <p:sp>
        <p:nvSpPr>
          <p:cNvPr id="27" name="map-arrow-5"/>
          <p:cNvSpPr/>
          <p:nvPr/>
        </p:nvSpPr>
        <p:spPr>
          <a:xfrm>
            <a:off x="3959352" y="4050792"/>
            <a:ext cx="384048" cy="274320"/>
          </a:xfrm>
          <a:prstGeom prst="rightArrow">
            <a:avLst/>
          </a:prstGeom>
          <a:solidFill>
            <a:schemeClr val="accent1"/>
          </a:solidFill>
          <a:ln w="12700">
            <a:solidFill>
              <a:schemeClr val="accent1"/>
            </a:solidFill>
            <a:prstDash val="solid"/>
          </a:ln>
        </p:spPr>
      </p:sp>
      <p:sp>
        <p:nvSpPr>
          <p:cNvPr id="28" name="tech-5"/>
          <p:cNvSpPr/>
          <p:nvPr/>
        </p:nvSpPr>
        <p:spPr>
          <a:xfrm>
            <a:off x="4480560" y="3950208"/>
            <a:ext cx="4206240" cy="475488"/>
          </a:xfrm>
          <a:prstGeom prst="roundRect">
            <a:avLst>
              <a:gd name="adj" fmla="val 19231"/>
            </a:avLst>
          </a:prstGeom>
          <a:solidFill>
            <a:schemeClr val="tx2"/>
          </a:solidFill>
          <a:ln w="12700">
            <a:solidFill>
              <a:schemeClr val="tx2"/>
            </a:solidFill>
            <a:prstDash val="solid"/>
          </a:ln>
        </p:spPr>
      </p:sp>
      <p:sp>
        <p:nvSpPr>
          <p:cNvPr id="29" name="Text 27"/>
          <p:cNvSpPr txBox="1"/>
          <p:nvPr/>
        </p:nvSpPr>
        <p:spPr>
          <a:xfrm>
            <a:off x="4663440" y="3950208"/>
            <a:ext cx="3931920" cy="475488"/>
          </a:xfrm>
          <a:prstGeom prst="rect">
            <a:avLst/>
          </a:prstGeom>
          <a:noFill/>
          <a:ln/>
        </p:spPr>
        <p:txBody>
          <a:bodyPr wrap="square" lIns="0" tIns="0" rIns="0" bIns="0" rtlCol="0" anchor="ctr"/>
          <a:lstStyle/>
          <a:p>
            <a:pPr marL="0" indent="0">
              <a:buNone/>
            </a:pPr>
            <a:r>
              <a:rPr lang="en-US" sz="1400" dirty="0">
                <a:solidFill>
                  <a:schemeClr val="bg1"/>
                </a:solidFill>
                <a:latin typeface="Consolas" pitchFamily="34" charset="0"/>
                <a:ea typeface="Consolas" pitchFamily="34" charset="-122"/>
                <a:cs typeface="Consolas" pitchFamily="34" charset="-120"/>
              </a:rPr>
              <a:t>e.delta, e.stopPropagation()</a:t>
            </a:r>
            <a:endParaRPr lang="en-US" sz="1400" dirty="0"/>
          </a:p>
        </p:txBody>
      </p:sp>
      <p:sp>
        <p:nvSpPr>
          <p:cNvPr id="30"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Cấu trúc code: một nguồn state</a:t>
            </a:r>
            <a:endParaRPr lang="en-US" sz="3400" dirty="0"/>
          </a:p>
        </p:txBody>
      </p:sp>
      <p:sp>
        <p:nvSpPr>
          <p:cNvPr id="3" name="giftscene"/>
          <p:cNvSpPr/>
          <p:nvPr/>
        </p:nvSpPr>
        <p:spPr>
          <a:xfrm>
            <a:off x="2514600" y="1188720"/>
            <a:ext cx="4114800" cy="914400"/>
          </a:xfrm>
          <a:prstGeom prst="roundRect">
            <a:avLst>
              <a:gd name="adj" fmla="val 10000"/>
            </a:avLst>
          </a:prstGeom>
          <a:solidFill>
            <a:schemeClr val="accent1"/>
          </a:solidFill>
          <a:ln w="12700">
            <a:solidFill>
              <a:schemeClr val="accent1"/>
            </a:solidFill>
            <a:prstDash val="solid"/>
          </a:ln>
        </p:spPr>
      </p:sp>
      <p:sp>
        <p:nvSpPr>
          <p:cNvPr id="4" name="Text 2"/>
          <p:cNvSpPr txBox="1"/>
          <p:nvPr/>
        </p:nvSpPr>
        <p:spPr>
          <a:xfrm>
            <a:off x="2697480" y="1188720"/>
            <a:ext cx="3749040" cy="914400"/>
          </a:xfrm>
          <a:prstGeom prst="rect">
            <a:avLst/>
          </a:prstGeom>
          <a:noFill/>
          <a:ln/>
        </p:spPr>
        <p:txBody>
          <a:bodyPr wrap="square" lIns="0" tIns="0" rIns="0" bIns="0" rtlCol="0" anchor="ctr"/>
          <a:lstStyle/>
          <a:p>
            <a:pPr marL="0" indent="0" algn="ctr">
              <a:buNone/>
            </a:pPr>
            <a:r>
              <a:rPr lang="en-US" sz="1800" b="1" dirty="0">
                <a:solidFill>
                  <a:schemeClr val="bg1"/>
                </a:solidFill>
              </a:rPr>
              <a:t>GiftScene — giữ toàn bộ state</a:t>
            </a:r>
            <a:endParaRPr lang="en-US" sz="1800" dirty="0"/>
          </a:p>
          <a:p>
            <a:pPr marL="0" indent="0" algn="ctr">
              <a:buNone/>
            </a:pPr>
            <a:r>
              <a:rPr lang="en-US" sz="1300" dirty="0">
                <a:solidFill>
                  <a:schemeClr val="bg1"/>
                </a:solidFill>
                <a:latin typeface="Consolas" pitchFamily="34" charset="0"/>
                <a:ea typeface="Consolas" pitchFamily="34" charset="-122"/>
                <a:cs typeface="Consolas" pitchFamily="34" charset="-120"/>
              </a:rPr>
              <a:t>opened · lightPosition · lightSelected</a:t>
            </a:r>
            <a:endParaRPr lang="en-US" sz="1800" dirty="0"/>
          </a:p>
        </p:txBody>
      </p:sp>
      <p:sp>
        <p:nvSpPr>
          <p:cNvPr id="5" name="link-trunk"/>
          <p:cNvSpPr/>
          <p:nvPr/>
        </p:nvSpPr>
        <p:spPr>
          <a:xfrm>
            <a:off x="4572000" y="2103120"/>
            <a:ext cx="0" cy="292608"/>
          </a:xfrm>
          <a:prstGeom prst="line">
            <a:avLst/>
          </a:prstGeom>
          <a:noFill/>
          <a:ln w="15875">
            <a:solidFill>
              <a:schemeClr val="accent6"/>
            </a:solidFill>
            <a:prstDash val="solid"/>
          </a:ln>
        </p:spPr>
      </p:sp>
      <p:sp>
        <p:nvSpPr>
          <p:cNvPr id="6" name="link-bus"/>
          <p:cNvSpPr/>
          <p:nvPr/>
        </p:nvSpPr>
        <p:spPr>
          <a:xfrm>
            <a:off x="1389888" y="2395728"/>
            <a:ext cx="6364224" cy="0"/>
          </a:xfrm>
          <a:prstGeom prst="line">
            <a:avLst/>
          </a:prstGeom>
          <a:noFill/>
          <a:ln w="15875">
            <a:solidFill>
              <a:schemeClr val="accent6"/>
            </a:solidFill>
            <a:prstDash val="solid"/>
          </a:ln>
        </p:spPr>
      </p:sp>
      <p:sp>
        <p:nvSpPr>
          <p:cNvPr id="7" name="link-1"/>
          <p:cNvSpPr/>
          <p:nvPr/>
        </p:nvSpPr>
        <p:spPr>
          <a:xfrm>
            <a:off x="1389888" y="2395728"/>
            <a:ext cx="0" cy="301752"/>
          </a:xfrm>
          <a:prstGeom prst="line">
            <a:avLst/>
          </a:prstGeom>
          <a:noFill/>
          <a:ln w="15875">
            <a:solidFill>
              <a:schemeClr val="accent6"/>
            </a:solidFill>
            <a:prstDash val="solid"/>
            <a:tailEnd type="triangle"/>
          </a:ln>
        </p:spPr>
      </p:sp>
      <p:sp>
        <p:nvSpPr>
          <p:cNvPr id="8" name="link-2"/>
          <p:cNvSpPr/>
          <p:nvPr/>
        </p:nvSpPr>
        <p:spPr>
          <a:xfrm>
            <a:off x="3511296" y="2395728"/>
            <a:ext cx="0" cy="301752"/>
          </a:xfrm>
          <a:prstGeom prst="line">
            <a:avLst/>
          </a:prstGeom>
          <a:noFill/>
          <a:ln w="15875">
            <a:solidFill>
              <a:schemeClr val="accent6"/>
            </a:solidFill>
            <a:prstDash val="solid"/>
            <a:tailEnd type="triangle"/>
          </a:ln>
        </p:spPr>
      </p:sp>
      <p:sp>
        <p:nvSpPr>
          <p:cNvPr id="9" name="link-3"/>
          <p:cNvSpPr/>
          <p:nvPr/>
        </p:nvSpPr>
        <p:spPr>
          <a:xfrm>
            <a:off x="5632704" y="2395728"/>
            <a:ext cx="0" cy="301752"/>
          </a:xfrm>
          <a:prstGeom prst="line">
            <a:avLst/>
          </a:prstGeom>
          <a:noFill/>
          <a:ln w="15875">
            <a:solidFill>
              <a:schemeClr val="accent6"/>
            </a:solidFill>
            <a:prstDash val="solid"/>
            <a:tailEnd type="triangle"/>
          </a:ln>
        </p:spPr>
      </p:sp>
      <p:sp>
        <p:nvSpPr>
          <p:cNvPr id="10" name="link-4"/>
          <p:cNvSpPr/>
          <p:nvPr/>
        </p:nvSpPr>
        <p:spPr>
          <a:xfrm>
            <a:off x="7754112" y="2395728"/>
            <a:ext cx="0" cy="301752"/>
          </a:xfrm>
          <a:prstGeom prst="line">
            <a:avLst/>
          </a:prstGeom>
          <a:noFill/>
          <a:ln w="15875">
            <a:solidFill>
              <a:schemeClr val="accent6"/>
            </a:solidFill>
            <a:prstDash val="solid"/>
            <a:tailEnd type="triangle"/>
          </a:ln>
        </p:spPr>
      </p:sp>
      <p:sp>
        <p:nvSpPr>
          <p:cNvPr id="11" name="part-GiftBox"/>
          <p:cNvSpPr/>
          <p:nvPr/>
        </p:nvSpPr>
        <p:spPr>
          <a:xfrm>
            <a:off x="457200" y="2697480"/>
            <a:ext cx="1865376" cy="1325880"/>
          </a:xfrm>
          <a:prstGeom prst="roundRect">
            <a:avLst>
              <a:gd name="adj" fmla="val 6897"/>
            </a:avLst>
          </a:prstGeom>
          <a:solidFill>
            <a:schemeClr val="bg2"/>
          </a:solidFill>
          <a:ln w="12700">
            <a:solidFill>
              <a:schemeClr val="bg2"/>
            </a:solidFill>
            <a:prstDash val="solid"/>
          </a:ln>
        </p:spPr>
      </p:sp>
      <p:sp>
        <p:nvSpPr>
          <p:cNvPr id="12" name="Text 10"/>
          <p:cNvSpPr txBox="1"/>
          <p:nvPr/>
        </p:nvSpPr>
        <p:spPr>
          <a:xfrm>
            <a:off x="589315" y="2807208"/>
            <a:ext cx="1591056" cy="365760"/>
          </a:xfrm>
          <a:prstGeom prst="rect">
            <a:avLst/>
          </a:prstGeom>
          <a:noFill/>
          <a:ln/>
        </p:spPr>
        <p:txBody>
          <a:bodyPr wrap="square" lIns="0" tIns="0" rIns="0" bIns="0" rtlCol="0" anchor="t"/>
          <a:lstStyle/>
          <a:p>
            <a:pPr marL="0" indent="0">
              <a:buNone/>
            </a:pPr>
            <a:r>
              <a:rPr lang="en-US" sz="1500" b="1" dirty="0">
                <a:solidFill>
                  <a:schemeClr val="tx2"/>
                </a:solidFill>
                <a:latin typeface="Consolas" pitchFamily="34" charset="0"/>
                <a:ea typeface="Consolas" pitchFamily="34" charset="-122"/>
                <a:cs typeface="Consolas" pitchFamily="34" charset="-120"/>
              </a:rPr>
              <a:t>GiftBox</a:t>
            </a:r>
            <a:endParaRPr lang="en-US" sz="1500" dirty="0"/>
          </a:p>
        </p:txBody>
      </p:sp>
      <p:sp>
        <p:nvSpPr>
          <p:cNvPr id="13" name="Text 11"/>
          <p:cNvSpPr txBox="1"/>
          <p:nvPr/>
        </p:nvSpPr>
        <p:spPr>
          <a:xfrm>
            <a:off x="594360" y="3200400"/>
            <a:ext cx="1591056" cy="777240"/>
          </a:xfrm>
          <a:prstGeom prst="rect">
            <a:avLst/>
          </a:prstGeom>
          <a:noFill/>
          <a:ln/>
        </p:spPr>
        <p:txBody>
          <a:bodyPr wrap="square" lIns="0" tIns="0" rIns="0" bIns="0" rtlCol="0" anchor="t"/>
          <a:lstStyle/>
          <a:p>
            <a:pPr marL="0" indent="0">
              <a:buNone/>
            </a:pPr>
            <a:endParaRPr lang="en-US" sz="1400" dirty="0"/>
          </a:p>
        </p:txBody>
      </p:sp>
      <p:sp>
        <p:nvSpPr>
          <p:cNvPr id="14" name="part-LightRig"/>
          <p:cNvSpPr/>
          <p:nvPr/>
        </p:nvSpPr>
        <p:spPr>
          <a:xfrm>
            <a:off x="2578608" y="2697480"/>
            <a:ext cx="1865376" cy="1325880"/>
          </a:xfrm>
          <a:prstGeom prst="roundRect">
            <a:avLst>
              <a:gd name="adj" fmla="val 6897"/>
            </a:avLst>
          </a:prstGeom>
          <a:solidFill>
            <a:schemeClr val="bg2"/>
          </a:solidFill>
          <a:ln w="12700">
            <a:solidFill>
              <a:schemeClr val="bg2"/>
            </a:solidFill>
            <a:prstDash val="solid"/>
          </a:ln>
        </p:spPr>
      </p:sp>
      <p:sp>
        <p:nvSpPr>
          <p:cNvPr id="15" name="Text 13"/>
          <p:cNvSpPr txBox="1"/>
          <p:nvPr/>
        </p:nvSpPr>
        <p:spPr>
          <a:xfrm>
            <a:off x="2715768" y="2807208"/>
            <a:ext cx="1591056" cy="365760"/>
          </a:xfrm>
          <a:prstGeom prst="rect">
            <a:avLst/>
          </a:prstGeom>
          <a:noFill/>
          <a:ln/>
        </p:spPr>
        <p:txBody>
          <a:bodyPr wrap="square" lIns="0" tIns="0" rIns="0" bIns="0" rtlCol="0" anchor="t"/>
          <a:lstStyle/>
          <a:p>
            <a:pPr marL="0" indent="0">
              <a:buNone/>
            </a:pPr>
            <a:r>
              <a:rPr lang="en-US" sz="1500" b="1" dirty="0">
                <a:solidFill>
                  <a:schemeClr val="tx2"/>
                </a:solidFill>
                <a:latin typeface="Consolas" pitchFamily="34" charset="0"/>
                <a:ea typeface="Consolas" pitchFamily="34" charset="-122"/>
                <a:cs typeface="Consolas" pitchFamily="34" charset="-120"/>
              </a:rPr>
              <a:t>LightRig</a:t>
            </a:r>
            <a:endParaRPr lang="en-US" sz="1500" dirty="0"/>
          </a:p>
        </p:txBody>
      </p:sp>
      <p:sp>
        <p:nvSpPr>
          <p:cNvPr id="16" name="Text 14"/>
          <p:cNvSpPr txBox="1"/>
          <p:nvPr/>
        </p:nvSpPr>
        <p:spPr>
          <a:xfrm>
            <a:off x="2715768" y="3200400"/>
            <a:ext cx="1591056" cy="777240"/>
          </a:xfrm>
          <a:prstGeom prst="rect">
            <a:avLst/>
          </a:prstGeom>
          <a:noFill/>
          <a:ln/>
        </p:spPr>
        <p:txBody>
          <a:bodyPr wrap="square" lIns="0" tIns="0" rIns="0" bIns="0" rtlCol="0" anchor="t"/>
          <a:lstStyle/>
          <a:p>
            <a:pPr marL="0" indent="0">
              <a:buNone/>
            </a:pPr>
            <a:r>
              <a:rPr lang="en-US" sz="1400" dirty="0">
                <a:solidFill>
                  <a:schemeClr val="tx1"/>
                </a:solidFill>
              </a:rPr>
              <a:t>Đèn, bóng đèn, nét đứt chỉ hướng</a:t>
            </a:r>
            <a:endParaRPr lang="en-US" sz="1400" dirty="0"/>
          </a:p>
        </p:txBody>
      </p:sp>
      <p:sp>
        <p:nvSpPr>
          <p:cNvPr id="17" name="part-OrbitControls"/>
          <p:cNvSpPr/>
          <p:nvPr/>
        </p:nvSpPr>
        <p:spPr>
          <a:xfrm>
            <a:off x="4700016" y="2697480"/>
            <a:ext cx="1865376" cy="1325880"/>
          </a:xfrm>
          <a:prstGeom prst="roundRect">
            <a:avLst>
              <a:gd name="adj" fmla="val 6897"/>
            </a:avLst>
          </a:prstGeom>
          <a:solidFill>
            <a:schemeClr val="bg2"/>
          </a:solidFill>
          <a:ln w="12700">
            <a:solidFill>
              <a:schemeClr val="bg2"/>
            </a:solidFill>
            <a:prstDash val="solid"/>
          </a:ln>
        </p:spPr>
      </p:sp>
      <p:sp>
        <p:nvSpPr>
          <p:cNvPr id="18" name="Text 16"/>
          <p:cNvSpPr txBox="1"/>
          <p:nvPr/>
        </p:nvSpPr>
        <p:spPr>
          <a:xfrm>
            <a:off x="4837176" y="2807208"/>
            <a:ext cx="1591056" cy="365760"/>
          </a:xfrm>
          <a:prstGeom prst="rect">
            <a:avLst/>
          </a:prstGeom>
          <a:noFill/>
          <a:ln/>
        </p:spPr>
        <p:txBody>
          <a:bodyPr wrap="square" lIns="0" tIns="0" rIns="0" bIns="0" rtlCol="0" anchor="t"/>
          <a:lstStyle/>
          <a:p>
            <a:pPr marL="0" indent="0">
              <a:buNone/>
            </a:pPr>
            <a:r>
              <a:rPr lang="en-US" sz="1500" b="1" dirty="0">
                <a:solidFill>
                  <a:schemeClr val="tx2"/>
                </a:solidFill>
                <a:latin typeface="Consolas" pitchFamily="34" charset="0"/>
                <a:ea typeface="Consolas" pitchFamily="34" charset="-122"/>
                <a:cs typeface="Consolas" pitchFamily="34" charset="-120"/>
              </a:rPr>
              <a:t>OrbitControls</a:t>
            </a:r>
            <a:endParaRPr lang="en-US" sz="1500" dirty="0"/>
          </a:p>
        </p:txBody>
      </p:sp>
      <p:sp>
        <p:nvSpPr>
          <p:cNvPr id="19" name="Text 17"/>
          <p:cNvSpPr txBox="1"/>
          <p:nvPr/>
        </p:nvSpPr>
        <p:spPr>
          <a:xfrm>
            <a:off x="4837176" y="3200400"/>
            <a:ext cx="1591056" cy="777240"/>
          </a:xfrm>
          <a:prstGeom prst="rect">
            <a:avLst/>
          </a:prstGeom>
          <a:noFill/>
          <a:ln/>
        </p:spPr>
        <p:txBody>
          <a:bodyPr wrap="square" lIns="0" tIns="0" rIns="0" bIns="0" rtlCol="0" anchor="t"/>
          <a:lstStyle/>
          <a:p>
            <a:pPr marL="0" indent="0">
              <a:buNone/>
            </a:pPr>
            <a:r>
              <a:rPr lang="en-US" sz="1400" dirty="0">
                <a:solidFill>
                  <a:schemeClr val="tx1"/>
                </a:solidFill>
              </a:rPr>
              <a:t>Xoay, zoom, dời camera</a:t>
            </a:r>
            <a:endParaRPr lang="en-US" sz="1400" dirty="0"/>
          </a:p>
        </p:txBody>
      </p:sp>
      <p:sp>
        <p:nvSpPr>
          <p:cNvPr id="20" name="part-ControlPanel"/>
          <p:cNvSpPr/>
          <p:nvPr/>
        </p:nvSpPr>
        <p:spPr>
          <a:xfrm>
            <a:off x="6821424" y="2697480"/>
            <a:ext cx="1865376" cy="1325880"/>
          </a:xfrm>
          <a:prstGeom prst="roundRect">
            <a:avLst>
              <a:gd name="adj" fmla="val 6897"/>
            </a:avLst>
          </a:prstGeom>
          <a:solidFill>
            <a:schemeClr val="bg1"/>
          </a:solidFill>
          <a:ln w="15875">
            <a:solidFill>
              <a:schemeClr val="accent1"/>
            </a:solidFill>
            <a:prstDash val="dash"/>
          </a:ln>
        </p:spPr>
      </p:sp>
      <p:sp>
        <p:nvSpPr>
          <p:cNvPr id="21" name="Text 19"/>
          <p:cNvSpPr txBox="1"/>
          <p:nvPr/>
        </p:nvSpPr>
        <p:spPr>
          <a:xfrm>
            <a:off x="6958584" y="2807208"/>
            <a:ext cx="1591056" cy="365760"/>
          </a:xfrm>
          <a:prstGeom prst="rect">
            <a:avLst/>
          </a:prstGeom>
          <a:noFill/>
          <a:ln/>
        </p:spPr>
        <p:txBody>
          <a:bodyPr wrap="square" lIns="0" tIns="0" rIns="0" bIns="0" rtlCol="0" anchor="t"/>
          <a:lstStyle/>
          <a:p>
            <a:pPr marL="0" indent="0">
              <a:buNone/>
            </a:pPr>
            <a:r>
              <a:rPr lang="en-US" sz="1500" b="1" dirty="0">
                <a:solidFill>
                  <a:schemeClr val="tx2"/>
                </a:solidFill>
                <a:latin typeface="Consolas" pitchFamily="34" charset="0"/>
                <a:ea typeface="Consolas" pitchFamily="34" charset="-122"/>
                <a:cs typeface="Consolas" pitchFamily="34" charset="-120"/>
              </a:rPr>
              <a:t>ControlPanel</a:t>
            </a:r>
            <a:endParaRPr lang="en-US" sz="1500" dirty="0"/>
          </a:p>
        </p:txBody>
      </p:sp>
      <p:sp>
        <p:nvSpPr>
          <p:cNvPr id="22" name="Text 20"/>
          <p:cNvSpPr txBox="1"/>
          <p:nvPr/>
        </p:nvSpPr>
        <p:spPr>
          <a:xfrm>
            <a:off x="6958584" y="3200400"/>
            <a:ext cx="1591056" cy="777240"/>
          </a:xfrm>
          <a:prstGeom prst="rect">
            <a:avLst/>
          </a:prstGeom>
          <a:noFill/>
          <a:ln/>
        </p:spPr>
        <p:txBody>
          <a:bodyPr wrap="square" lIns="0" tIns="0" rIns="0" bIns="0" rtlCol="0" anchor="t"/>
          <a:lstStyle/>
          <a:p>
            <a:pPr marL="0" indent="0">
              <a:buNone/>
            </a:pPr>
            <a:r>
              <a:rPr lang="en-US" sz="1400" dirty="0">
                <a:solidFill>
                  <a:schemeClr val="tx1"/>
                </a:solidFill>
              </a:rPr>
              <a:t>Bảng HTML ngoài Canvas: thanh trượt, nút</a:t>
            </a:r>
            <a:endParaRPr lang="en-US" sz="1400" dirty="0"/>
          </a:p>
        </p:txBody>
      </p:sp>
      <p:sp>
        <p:nvSpPr>
          <p:cNvPr id="23" name="Text 21"/>
          <p:cNvSpPr txBox="1"/>
          <p:nvPr/>
        </p:nvSpPr>
        <p:spPr>
          <a:xfrm>
            <a:off x="457200" y="4224528"/>
            <a:ext cx="8229600" cy="365760"/>
          </a:xfrm>
          <a:prstGeom prst="rect">
            <a:avLst/>
          </a:prstGeom>
          <a:noFill/>
          <a:ln/>
        </p:spPr>
        <p:txBody>
          <a:bodyPr wrap="square" lIns="0" tIns="0" rIns="0" bIns="0" rtlCol="0" anchor="t"/>
          <a:lstStyle/>
          <a:p>
            <a:pPr marL="0" indent="0">
              <a:buNone/>
            </a:pPr>
            <a:r>
              <a:rPr lang="en-US" sz="1300" i="1" dirty="0">
                <a:solidFill>
                  <a:schemeClr val="accent6"/>
                </a:solidFill>
              </a:rPr>
              <a:t>Các phần chỉ đọc state (props) và gọi hàm để đổi state (callback), kể cả bảng HTML nằm ngoài Canvas.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8 bước phát triển</a:t>
            </a:r>
            <a:endParaRPr lang="en-US" sz="3400" dirty="0"/>
          </a:p>
        </p:txBody>
      </p:sp>
      <p:sp>
        <p:nvSpPr>
          <p:cNvPr id="3" name="timeline"/>
          <p:cNvSpPr/>
          <p:nvPr/>
        </p:nvSpPr>
        <p:spPr>
          <a:xfrm>
            <a:off x="914400" y="2606040"/>
            <a:ext cx="7315200" cy="0"/>
          </a:xfrm>
          <a:prstGeom prst="line">
            <a:avLst/>
          </a:prstGeom>
          <a:noFill/>
          <a:ln w="25400">
            <a:solidFill>
              <a:schemeClr val="accent6"/>
            </a:solidFill>
            <a:prstDash val="solid"/>
          </a:ln>
        </p:spPr>
      </p:sp>
      <p:sp>
        <p:nvSpPr>
          <p:cNvPr id="4" name="Text 2"/>
          <p:cNvSpPr txBox="1"/>
          <p:nvPr/>
        </p:nvSpPr>
        <p:spPr>
          <a:xfrm>
            <a:off x="457200" y="1371600"/>
            <a:ext cx="4049486" cy="320040"/>
          </a:xfrm>
          <a:prstGeom prst="rect">
            <a:avLst/>
          </a:prstGeom>
          <a:noFill/>
          <a:ln/>
        </p:spPr>
        <p:txBody>
          <a:bodyPr wrap="square" lIns="0" tIns="0" rIns="0" bIns="0" rtlCol="0" anchor="t"/>
          <a:lstStyle/>
          <a:p>
            <a:pPr marL="0" indent="0" algn="ctr">
              <a:buNone/>
            </a:pPr>
            <a:r>
              <a:rPr lang="en-US" sz="1500" b="1" kern="0" spc="100">
                <a:solidFill>
                  <a:schemeClr val="accent1"/>
                </a:solidFill>
              </a:rPr>
              <a:t>BÀI </a:t>
            </a:r>
            <a:r>
              <a:rPr lang="en-US" sz="1500" b="1" kern="0" spc="100" smtClean="0">
                <a:solidFill>
                  <a:schemeClr val="accent1"/>
                </a:solidFill>
              </a:rPr>
              <a:t>GỐC</a:t>
            </a:r>
            <a:endParaRPr lang="en-US" sz="1500" dirty="0"/>
          </a:p>
        </p:txBody>
      </p:sp>
      <p:sp>
        <p:nvSpPr>
          <p:cNvPr id="5" name="Text 3"/>
          <p:cNvSpPr txBox="1"/>
          <p:nvPr/>
        </p:nvSpPr>
        <p:spPr>
          <a:xfrm>
            <a:off x="4637314" y="1371600"/>
            <a:ext cx="4049486" cy="320040"/>
          </a:xfrm>
          <a:prstGeom prst="rect">
            <a:avLst/>
          </a:prstGeom>
          <a:noFill/>
          <a:ln/>
        </p:spPr>
        <p:txBody>
          <a:bodyPr wrap="square" lIns="0" tIns="0" rIns="0" bIns="0" rtlCol="0" anchor="t"/>
          <a:lstStyle/>
          <a:p>
            <a:pPr marL="0" indent="0" algn="ctr">
              <a:buNone/>
            </a:pPr>
            <a:r>
              <a:rPr lang="en-US" sz="1500" b="1" kern="0" spc="100" dirty="0">
                <a:solidFill>
                  <a:schemeClr val="tx2"/>
                </a:solidFill>
              </a:rPr>
              <a:t>PHẦN MỞ RỘNG</a:t>
            </a:r>
            <a:endParaRPr lang="en-US" sz="1500" dirty="0"/>
          </a:p>
        </p:txBody>
      </p:sp>
      <p:sp>
        <p:nvSpPr>
          <p:cNvPr id="6" name="group-hands-on"/>
          <p:cNvSpPr/>
          <p:nvPr/>
        </p:nvSpPr>
        <p:spPr>
          <a:xfrm>
            <a:off x="594360" y="1810512"/>
            <a:ext cx="3775166" cy="0"/>
          </a:xfrm>
          <a:prstGeom prst="line">
            <a:avLst/>
          </a:prstGeom>
          <a:noFill/>
          <a:ln w="25400">
            <a:solidFill>
              <a:schemeClr val="accent1"/>
            </a:solidFill>
            <a:prstDash val="solid"/>
          </a:ln>
        </p:spPr>
      </p:sp>
      <p:sp>
        <p:nvSpPr>
          <p:cNvPr id="7" name="group-extension"/>
          <p:cNvSpPr/>
          <p:nvPr/>
        </p:nvSpPr>
        <p:spPr>
          <a:xfrm>
            <a:off x="4774474" y="1810512"/>
            <a:ext cx="3775166" cy="0"/>
          </a:xfrm>
          <a:prstGeom prst="line">
            <a:avLst/>
          </a:prstGeom>
          <a:noFill/>
          <a:ln w="25400">
            <a:solidFill>
              <a:schemeClr val="accent2"/>
            </a:solidFill>
            <a:prstDash val="solid"/>
          </a:ln>
        </p:spPr>
      </p:sp>
      <p:sp>
        <p:nvSpPr>
          <p:cNvPr id="8" name="badge-1"/>
          <p:cNvSpPr/>
          <p:nvPr/>
        </p:nvSpPr>
        <p:spPr>
          <a:xfrm>
            <a:off x="603504" y="2295144"/>
            <a:ext cx="621792" cy="621792"/>
          </a:xfrm>
          <a:prstGeom prst="ellipse">
            <a:avLst/>
          </a:prstGeom>
          <a:solidFill>
            <a:schemeClr val="accent1"/>
          </a:solidFill>
          <a:ln w="12700">
            <a:solidFill>
              <a:schemeClr val="accent1"/>
            </a:solidFill>
            <a:prstDash val="solid"/>
          </a:ln>
        </p:spPr>
      </p:sp>
      <p:sp>
        <p:nvSpPr>
          <p:cNvPr id="9" name="Text 7"/>
          <p:cNvSpPr txBox="1"/>
          <p:nvPr/>
        </p:nvSpPr>
        <p:spPr>
          <a:xfrm>
            <a:off x="603504" y="2295144"/>
            <a:ext cx="621792" cy="621792"/>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10" name="Text 8"/>
          <p:cNvSpPr txBox="1"/>
          <p:nvPr/>
        </p:nvSpPr>
        <p:spPr>
          <a:xfrm>
            <a:off x="411480" y="3063240"/>
            <a:ext cx="1005840" cy="640080"/>
          </a:xfrm>
          <a:prstGeom prst="rect">
            <a:avLst/>
          </a:prstGeom>
          <a:noFill/>
          <a:ln/>
        </p:spPr>
        <p:txBody>
          <a:bodyPr wrap="square" lIns="0" tIns="0" rIns="0" bIns="0" rtlCol="0" anchor="t"/>
          <a:lstStyle/>
          <a:p>
            <a:pPr lvl="0">
              <a:lnSpc>
                <a:spcPct val="115000"/>
              </a:lnSpc>
              <a:spcBef>
                <a:spcPts val="900"/>
              </a:spcBef>
              <a:buSzPts val="3200"/>
            </a:pPr>
            <a:r>
              <a:rPr lang="vi-VN" altLang="ja-JP" sz="1600" dirty="0">
                <a:solidFill>
                  <a:srgbClr val="1F1F1F"/>
                </a:solidFill>
              </a:rPr>
              <a:t>Gift box đơn giản</a:t>
            </a:r>
            <a:endParaRPr lang="vi-VN" sz="1600" dirty="0">
              <a:solidFill>
                <a:srgbClr val="1F1F1F"/>
              </a:solidFill>
            </a:endParaRPr>
          </a:p>
        </p:txBody>
      </p:sp>
      <p:sp>
        <p:nvSpPr>
          <p:cNvPr id="11" name="badge-2"/>
          <p:cNvSpPr/>
          <p:nvPr/>
        </p:nvSpPr>
        <p:spPr>
          <a:xfrm>
            <a:off x="1648533" y="2295144"/>
            <a:ext cx="621792" cy="621792"/>
          </a:xfrm>
          <a:prstGeom prst="ellipse">
            <a:avLst/>
          </a:prstGeom>
          <a:solidFill>
            <a:schemeClr val="accent1"/>
          </a:solidFill>
          <a:ln w="12700">
            <a:solidFill>
              <a:schemeClr val="accent1"/>
            </a:solidFill>
            <a:prstDash val="solid"/>
          </a:ln>
        </p:spPr>
      </p:sp>
      <p:sp>
        <p:nvSpPr>
          <p:cNvPr id="12" name="Text 10"/>
          <p:cNvSpPr txBox="1"/>
          <p:nvPr/>
        </p:nvSpPr>
        <p:spPr>
          <a:xfrm>
            <a:off x="1648533" y="2295144"/>
            <a:ext cx="621792" cy="621792"/>
          </a:xfrm>
          <a:prstGeom prst="rect">
            <a:avLst/>
          </a:prstGeom>
          <a:no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13" name="Text 11"/>
          <p:cNvSpPr txBox="1"/>
          <p:nvPr/>
        </p:nvSpPr>
        <p:spPr>
          <a:xfrm>
            <a:off x="1456509" y="3063240"/>
            <a:ext cx="1005840" cy="640080"/>
          </a:xfrm>
          <a:prstGeom prst="rect">
            <a:avLst/>
          </a:prstGeom>
          <a:noFill/>
          <a:ln/>
        </p:spPr>
        <p:txBody>
          <a:bodyPr wrap="square" lIns="0" tIns="0" rIns="0" bIns="0" rtlCol="0" anchor="t"/>
          <a:lstStyle/>
          <a:p>
            <a:pPr lvl="0">
              <a:lnSpc>
                <a:spcPct val="115000"/>
              </a:lnSpc>
              <a:spcBef>
                <a:spcPts val="900"/>
              </a:spcBef>
              <a:buSzPts val="3200"/>
            </a:pPr>
            <a:r>
              <a:rPr lang="en-US" altLang="ja-JP" sz="1600" dirty="0">
                <a:solidFill>
                  <a:srgbClr val="1F1F1F"/>
                </a:solidFill>
              </a:rPr>
              <a:t>Click vào thì hộp mở</a:t>
            </a:r>
            <a:endParaRPr lang="en-US" sz="1600" dirty="0">
              <a:solidFill>
                <a:srgbClr val="1F1F1F"/>
              </a:solidFill>
            </a:endParaRPr>
          </a:p>
        </p:txBody>
      </p:sp>
      <p:sp>
        <p:nvSpPr>
          <p:cNvPr id="14" name="badge-3"/>
          <p:cNvSpPr/>
          <p:nvPr/>
        </p:nvSpPr>
        <p:spPr>
          <a:xfrm>
            <a:off x="2693561" y="2295144"/>
            <a:ext cx="621792" cy="621792"/>
          </a:xfrm>
          <a:prstGeom prst="ellipse">
            <a:avLst/>
          </a:prstGeom>
          <a:solidFill>
            <a:schemeClr val="accent1"/>
          </a:solidFill>
          <a:ln w="12700">
            <a:solidFill>
              <a:schemeClr val="accent1"/>
            </a:solidFill>
            <a:prstDash val="solid"/>
          </a:ln>
        </p:spPr>
      </p:sp>
      <p:sp>
        <p:nvSpPr>
          <p:cNvPr id="15" name="Text 13"/>
          <p:cNvSpPr txBox="1"/>
          <p:nvPr/>
        </p:nvSpPr>
        <p:spPr>
          <a:xfrm>
            <a:off x="2693561" y="2295144"/>
            <a:ext cx="621792" cy="621792"/>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16" name="Text 14"/>
          <p:cNvSpPr txBox="1"/>
          <p:nvPr/>
        </p:nvSpPr>
        <p:spPr>
          <a:xfrm>
            <a:off x="2501537" y="3063240"/>
            <a:ext cx="1005840" cy="640080"/>
          </a:xfrm>
          <a:prstGeom prst="rect">
            <a:avLst/>
          </a:prstGeom>
          <a:noFill/>
          <a:ln/>
        </p:spPr>
        <p:txBody>
          <a:bodyPr wrap="square" lIns="0" tIns="0" rIns="0" bIns="0" rtlCol="0" anchor="t"/>
          <a:lstStyle/>
          <a:p>
            <a:pPr lvl="0">
              <a:lnSpc>
                <a:spcPct val="115000"/>
              </a:lnSpc>
              <a:spcBef>
                <a:spcPts val="900"/>
              </a:spcBef>
              <a:buSzPts val="3200"/>
            </a:pPr>
            <a:r>
              <a:rPr lang="en-US" altLang="ja-JP" sz="1600" dirty="0">
                <a:solidFill>
                  <a:srgbClr val="1F1F1F"/>
                </a:solidFill>
              </a:rPr>
              <a:t>Add thêm quà</a:t>
            </a:r>
            <a:endParaRPr lang="en-US" sz="1600" dirty="0">
              <a:solidFill>
                <a:srgbClr val="1F1F1F"/>
              </a:solidFill>
            </a:endParaRPr>
          </a:p>
        </p:txBody>
      </p:sp>
      <p:sp>
        <p:nvSpPr>
          <p:cNvPr id="17" name="badge-4"/>
          <p:cNvSpPr/>
          <p:nvPr/>
        </p:nvSpPr>
        <p:spPr>
          <a:xfrm>
            <a:off x="3738590" y="2295144"/>
            <a:ext cx="621792" cy="621792"/>
          </a:xfrm>
          <a:prstGeom prst="ellipse">
            <a:avLst/>
          </a:prstGeom>
          <a:solidFill>
            <a:schemeClr val="accent1"/>
          </a:solidFill>
          <a:ln w="12700">
            <a:solidFill>
              <a:schemeClr val="accent1"/>
            </a:solidFill>
            <a:prstDash val="solid"/>
          </a:ln>
        </p:spPr>
      </p:sp>
      <p:sp>
        <p:nvSpPr>
          <p:cNvPr id="18" name="Text 16"/>
          <p:cNvSpPr txBox="1"/>
          <p:nvPr/>
        </p:nvSpPr>
        <p:spPr>
          <a:xfrm>
            <a:off x="3738590" y="2295144"/>
            <a:ext cx="621792" cy="621792"/>
          </a:xfrm>
          <a:prstGeom prst="rect">
            <a:avLst/>
          </a:prstGeom>
          <a:noFill/>
          <a:ln/>
        </p:spPr>
        <p:txBody>
          <a:bodyPr wrap="square" lIns="0" tIns="0" rIns="0" bIns="0" rtlCol="0" anchor="ctr"/>
          <a:lstStyle/>
          <a:p>
            <a:pPr marL="0" indent="0" algn="ctr">
              <a:buNone/>
            </a:pPr>
            <a:r>
              <a:rPr lang="en-US" sz="2000" b="1" dirty="0">
                <a:solidFill>
                  <a:schemeClr val="bg1"/>
                </a:solidFill>
              </a:rPr>
              <a:t>4</a:t>
            </a:r>
            <a:endParaRPr lang="en-US" sz="2000" dirty="0"/>
          </a:p>
        </p:txBody>
      </p:sp>
      <p:sp>
        <p:nvSpPr>
          <p:cNvPr id="19" name="Text 17"/>
          <p:cNvSpPr txBox="1"/>
          <p:nvPr/>
        </p:nvSpPr>
        <p:spPr>
          <a:xfrm>
            <a:off x="3546566" y="3063240"/>
            <a:ext cx="1005840" cy="640080"/>
          </a:xfrm>
          <a:prstGeom prst="rect">
            <a:avLst/>
          </a:prstGeom>
          <a:noFill/>
          <a:ln/>
        </p:spPr>
        <p:txBody>
          <a:bodyPr wrap="square" lIns="0" tIns="0" rIns="0" bIns="0" rtlCol="0" anchor="t"/>
          <a:lstStyle/>
          <a:p>
            <a:pPr lvl="0">
              <a:lnSpc>
                <a:spcPct val="115000"/>
              </a:lnSpc>
              <a:spcBef>
                <a:spcPts val="900"/>
              </a:spcBef>
              <a:buSzPts val="3200"/>
            </a:pPr>
            <a:r>
              <a:rPr lang="en-US" altLang="ja-JP" sz="1600" dirty="0">
                <a:solidFill>
                  <a:srgbClr val="1F1F1F"/>
                </a:solidFill>
              </a:rPr>
              <a:t>Đổi thành modal 3D</a:t>
            </a:r>
            <a:endParaRPr lang="en-US" sz="1600" dirty="0">
              <a:solidFill>
                <a:srgbClr val="1F1F1F"/>
              </a:solidFill>
            </a:endParaRPr>
          </a:p>
        </p:txBody>
      </p:sp>
      <p:sp>
        <p:nvSpPr>
          <p:cNvPr id="20" name="badge-5"/>
          <p:cNvSpPr/>
          <p:nvPr/>
        </p:nvSpPr>
        <p:spPr>
          <a:xfrm>
            <a:off x="4783618" y="2295144"/>
            <a:ext cx="621792" cy="621792"/>
          </a:xfrm>
          <a:prstGeom prst="ellipse">
            <a:avLst/>
          </a:prstGeom>
          <a:solidFill>
            <a:schemeClr val="accent2"/>
          </a:solidFill>
          <a:ln w="12700">
            <a:solidFill>
              <a:schemeClr val="accent2"/>
            </a:solidFill>
            <a:prstDash val="solid"/>
          </a:ln>
        </p:spPr>
      </p:sp>
      <p:sp>
        <p:nvSpPr>
          <p:cNvPr id="21" name="Text 19"/>
          <p:cNvSpPr txBox="1"/>
          <p:nvPr/>
        </p:nvSpPr>
        <p:spPr>
          <a:xfrm>
            <a:off x="4783618" y="2295144"/>
            <a:ext cx="621792" cy="621792"/>
          </a:xfrm>
          <a:prstGeom prst="rect">
            <a:avLst/>
          </a:prstGeom>
          <a:noFill/>
          <a:ln/>
        </p:spPr>
        <p:txBody>
          <a:bodyPr wrap="square" lIns="0" tIns="0" rIns="0" bIns="0" rtlCol="0" anchor="ctr"/>
          <a:lstStyle/>
          <a:p>
            <a:pPr marL="0" indent="0" algn="ctr">
              <a:buNone/>
            </a:pPr>
            <a:r>
              <a:rPr lang="en-US" sz="2000" b="1" dirty="0">
                <a:solidFill>
                  <a:schemeClr val="tx2"/>
                </a:solidFill>
              </a:rPr>
              <a:t>5</a:t>
            </a:r>
            <a:endParaRPr lang="en-US" sz="2000" dirty="0"/>
          </a:p>
        </p:txBody>
      </p:sp>
      <p:sp>
        <p:nvSpPr>
          <p:cNvPr id="22" name="Text 20"/>
          <p:cNvSpPr txBox="1"/>
          <p:nvPr/>
        </p:nvSpPr>
        <p:spPr>
          <a:xfrm>
            <a:off x="4591594" y="3063240"/>
            <a:ext cx="1005840" cy="640080"/>
          </a:xfrm>
          <a:prstGeom prst="rect">
            <a:avLst/>
          </a:prstGeom>
          <a:noFill/>
          <a:ln/>
        </p:spPr>
        <p:txBody>
          <a:bodyPr wrap="square" lIns="0" tIns="0" rIns="0" bIns="0" rtlCol="0" anchor="t"/>
          <a:lstStyle/>
          <a:p>
            <a:pPr marL="0" indent="0" algn="ctr">
              <a:buNone/>
            </a:pPr>
            <a:r>
              <a:rPr lang="en-US" sz="1500" dirty="0">
                <a:solidFill>
                  <a:schemeClr val="tx1"/>
                </a:solidFill>
              </a:rPr>
              <a:t>Bóng</a:t>
            </a:r>
            <a:endParaRPr lang="en-US" sz="1500" dirty="0"/>
          </a:p>
          <a:p>
            <a:pPr marL="0" indent="0" algn="ctr">
              <a:buNone/>
            </a:pPr>
            <a:r>
              <a:rPr lang="en-US" sz="1500" dirty="0">
                <a:solidFill>
                  <a:schemeClr val="tx1"/>
                </a:solidFill>
              </a:rPr>
              <a:t>đổ</a:t>
            </a:r>
            <a:endParaRPr lang="en-US" sz="1500" dirty="0"/>
          </a:p>
        </p:txBody>
      </p:sp>
      <p:sp>
        <p:nvSpPr>
          <p:cNvPr id="23" name="badge-6"/>
          <p:cNvSpPr/>
          <p:nvPr/>
        </p:nvSpPr>
        <p:spPr>
          <a:xfrm>
            <a:off x="5828647" y="2295144"/>
            <a:ext cx="621792" cy="621792"/>
          </a:xfrm>
          <a:prstGeom prst="ellipse">
            <a:avLst/>
          </a:prstGeom>
          <a:solidFill>
            <a:schemeClr val="accent2"/>
          </a:solidFill>
          <a:ln w="12700">
            <a:solidFill>
              <a:schemeClr val="accent2"/>
            </a:solidFill>
            <a:prstDash val="solid"/>
          </a:ln>
        </p:spPr>
      </p:sp>
      <p:sp>
        <p:nvSpPr>
          <p:cNvPr id="24" name="Text 22"/>
          <p:cNvSpPr txBox="1"/>
          <p:nvPr/>
        </p:nvSpPr>
        <p:spPr>
          <a:xfrm>
            <a:off x="5828647" y="2295144"/>
            <a:ext cx="621792" cy="621792"/>
          </a:xfrm>
          <a:prstGeom prst="rect">
            <a:avLst/>
          </a:prstGeom>
          <a:noFill/>
          <a:ln/>
        </p:spPr>
        <p:txBody>
          <a:bodyPr wrap="square" lIns="0" tIns="0" rIns="0" bIns="0" rtlCol="0" anchor="ctr"/>
          <a:lstStyle/>
          <a:p>
            <a:pPr marL="0" indent="0" algn="ctr">
              <a:buNone/>
            </a:pPr>
            <a:r>
              <a:rPr lang="en-US" sz="2000" b="1" dirty="0">
                <a:solidFill>
                  <a:schemeClr val="tx2"/>
                </a:solidFill>
              </a:rPr>
              <a:t>6</a:t>
            </a:r>
            <a:endParaRPr lang="en-US" sz="2000" dirty="0"/>
          </a:p>
        </p:txBody>
      </p:sp>
      <p:sp>
        <p:nvSpPr>
          <p:cNvPr id="25" name="Text 23"/>
          <p:cNvSpPr txBox="1"/>
          <p:nvPr/>
        </p:nvSpPr>
        <p:spPr>
          <a:xfrm>
            <a:off x="5636623" y="3063240"/>
            <a:ext cx="1005840" cy="640080"/>
          </a:xfrm>
          <a:prstGeom prst="rect">
            <a:avLst/>
          </a:prstGeom>
          <a:noFill/>
          <a:ln/>
        </p:spPr>
        <p:txBody>
          <a:bodyPr wrap="square" lIns="0" tIns="0" rIns="0" bIns="0" rtlCol="0" anchor="t"/>
          <a:lstStyle/>
          <a:p>
            <a:pPr marL="0" indent="0" algn="ctr">
              <a:buNone/>
            </a:pPr>
            <a:r>
              <a:rPr lang="en-US" sz="1500" dirty="0">
                <a:solidFill>
                  <a:schemeClr val="tx1"/>
                </a:solidFill>
              </a:rPr>
              <a:t>Xoay</a:t>
            </a:r>
            <a:endParaRPr lang="en-US" sz="1500" dirty="0"/>
          </a:p>
          <a:p>
            <a:pPr marL="0" indent="0" algn="ctr">
              <a:buNone/>
            </a:pPr>
            <a:r>
              <a:rPr lang="en-US" sz="1500" dirty="0">
                <a:solidFill>
                  <a:schemeClr val="tx1"/>
                </a:solidFill>
              </a:rPr>
              <a:t>góc nhìn</a:t>
            </a:r>
            <a:endParaRPr lang="en-US" sz="1500" dirty="0"/>
          </a:p>
        </p:txBody>
      </p:sp>
      <p:sp>
        <p:nvSpPr>
          <p:cNvPr id="26" name="badge-7"/>
          <p:cNvSpPr/>
          <p:nvPr/>
        </p:nvSpPr>
        <p:spPr>
          <a:xfrm>
            <a:off x="6873675" y="2295144"/>
            <a:ext cx="621792" cy="621792"/>
          </a:xfrm>
          <a:prstGeom prst="ellipse">
            <a:avLst/>
          </a:prstGeom>
          <a:solidFill>
            <a:schemeClr val="accent2"/>
          </a:solidFill>
          <a:ln w="12700">
            <a:solidFill>
              <a:schemeClr val="accent2"/>
            </a:solidFill>
            <a:prstDash val="solid"/>
          </a:ln>
        </p:spPr>
      </p:sp>
      <p:sp>
        <p:nvSpPr>
          <p:cNvPr id="27" name="Text 25"/>
          <p:cNvSpPr txBox="1"/>
          <p:nvPr/>
        </p:nvSpPr>
        <p:spPr>
          <a:xfrm>
            <a:off x="6873675" y="2295144"/>
            <a:ext cx="621792" cy="621792"/>
          </a:xfrm>
          <a:prstGeom prst="rect">
            <a:avLst/>
          </a:prstGeom>
          <a:noFill/>
          <a:ln/>
        </p:spPr>
        <p:txBody>
          <a:bodyPr wrap="square" lIns="0" tIns="0" rIns="0" bIns="0" rtlCol="0" anchor="ctr"/>
          <a:lstStyle/>
          <a:p>
            <a:pPr marL="0" indent="0" algn="ctr">
              <a:buNone/>
            </a:pPr>
            <a:r>
              <a:rPr lang="en-US" sz="2000" b="1" dirty="0">
                <a:solidFill>
                  <a:schemeClr val="tx2"/>
                </a:solidFill>
              </a:rPr>
              <a:t>7</a:t>
            </a:r>
            <a:endParaRPr lang="en-US" sz="2000" dirty="0"/>
          </a:p>
        </p:txBody>
      </p:sp>
      <p:sp>
        <p:nvSpPr>
          <p:cNvPr id="28" name="Text 26"/>
          <p:cNvSpPr txBox="1"/>
          <p:nvPr/>
        </p:nvSpPr>
        <p:spPr>
          <a:xfrm>
            <a:off x="6681651" y="3063240"/>
            <a:ext cx="1005840" cy="640080"/>
          </a:xfrm>
          <a:prstGeom prst="rect">
            <a:avLst/>
          </a:prstGeom>
          <a:noFill/>
          <a:ln/>
        </p:spPr>
        <p:txBody>
          <a:bodyPr wrap="square" lIns="0" tIns="0" rIns="0" bIns="0" rtlCol="0" anchor="t"/>
          <a:lstStyle/>
          <a:p>
            <a:r>
              <a:rPr lang="en-US" sz="1400" dirty="0"/>
              <a:t>Ánh sáng thay đổi được</a:t>
            </a:r>
          </a:p>
          <a:p>
            <a:pPr marL="0" indent="0" algn="ctr">
              <a:buNone/>
            </a:pPr>
            <a:endParaRPr lang="en-US" sz="1500" dirty="0"/>
          </a:p>
        </p:txBody>
      </p:sp>
      <p:sp>
        <p:nvSpPr>
          <p:cNvPr id="29" name="badge-8"/>
          <p:cNvSpPr/>
          <p:nvPr/>
        </p:nvSpPr>
        <p:spPr>
          <a:xfrm>
            <a:off x="7918704" y="2295144"/>
            <a:ext cx="621792" cy="621792"/>
          </a:xfrm>
          <a:prstGeom prst="ellipse">
            <a:avLst/>
          </a:prstGeom>
          <a:solidFill>
            <a:schemeClr val="accent2"/>
          </a:solidFill>
          <a:ln w="12700">
            <a:solidFill>
              <a:schemeClr val="accent2"/>
            </a:solidFill>
            <a:prstDash val="solid"/>
          </a:ln>
        </p:spPr>
      </p:sp>
      <p:sp>
        <p:nvSpPr>
          <p:cNvPr id="30" name="Text 28"/>
          <p:cNvSpPr txBox="1"/>
          <p:nvPr/>
        </p:nvSpPr>
        <p:spPr>
          <a:xfrm>
            <a:off x="7918704" y="2295144"/>
            <a:ext cx="621792" cy="621792"/>
          </a:xfrm>
          <a:prstGeom prst="rect">
            <a:avLst/>
          </a:prstGeom>
          <a:noFill/>
          <a:ln/>
        </p:spPr>
        <p:txBody>
          <a:bodyPr wrap="square" lIns="0" tIns="0" rIns="0" bIns="0" rtlCol="0" anchor="ctr"/>
          <a:lstStyle/>
          <a:p>
            <a:pPr marL="0" indent="0" algn="ctr">
              <a:buNone/>
            </a:pPr>
            <a:r>
              <a:rPr lang="en-US" sz="2000" b="1" dirty="0">
                <a:solidFill>
                  <a:schemeClr val="tx2"/>
                </a:solidFill>
              </a:rPr>
              <a:t>8</a:t>
            </a:r>
            <a:endParaRPr lang="en-US" sz="2000" dirty="0"/>
          </a:p>
        </p:txBody>
      </p:sp>
      <p:sp>
        <p:nvSpPr>
          <p:cNvPr id="31" name="Text 29"/>
          <p:cNvSpPr txBox="1"/>
          <p:nvPr/>
        </p:nvSpPr>
        <p:spPr>
          <a:xfrm>
            <a:off x="7726680" y="3063240"/>
            <a:ext cx="1005840" cy="640080"/>
          </a:xfrm>
          <a:prstGeom prst="rect">
            <a:avLst/>
          </a:prstGeom>
          <a:noFill/>
          <a:ln/>
        </p:spPr>
        <p:txBody>
          <a:bodyPr wrap="square" lIns="0" tIns="0" rIns="0" bIns="0" rtlCol="0" anchor="t"/>
          <a:lstStyle/>
          <a:p>
            <a:pPr marL="0" indent="0" algn="ctr">
              <a:buNone/>
            </a:pPr>
            <a:r>
              <a:rPr lang="en-US" sz="1500" dirty="0">
                <a:solidFill>
                  <a:schemeClr val="tx1"/>
                </a:solidFill>
              </a:rPr>
              <a:t>Bảng</a:t>
            </a:r>
            <a:endParaRPr lang="en-US" sz="1500" dirty="0"/>
          </a:p>
          <a:p>
            <a:pPr marL="0" indent="0" algn="ctr">
              <a:buNone/>
            </a:pPr>
            <a:r>
              <a:rPr lang="en-US" sz="1500" dirty="0">
                <a:solidFill>
                  <a:schemeClr val="tx1"/>
                </a:solidFill>
              </a:rPr>
              <a:t>điều khiển</a:t>
            </a:r>
            <a:endParaRPr lang="en-US" sz="1500" dirty="0"/>
          </a:p>
        </p:txBody>
      </p:sp>
      <p:sp>
        <p:nvSpPr>
          <p:cNvPr id="32" name="Text 30"/>
          <p:cNvSpPr txBox="1"/>
          <p:nvPr/>
        </p:nvSpPr>
        <p:spPr>
          <a:xfrm>
            <a:off x="457200" y="4160520"/>
            <a:ext cx="8229600" cy="365760"/>
          </a:xfrm>
          <a:prstGeom prst="rect">
            <a:avLst/>
          </a:prstGeom>
          <a:noFill/>
          <a:ln/>
        </p:spPr>
        <p:txBody>
          <a:bodyPr wrap="square" lIns="0" tIns="0" rIns="0" bIns="0" rtlCol="0" anchor="t"/>
          <a:lstStyle/>
          <a:p>
            <a:pPr marL="0" indent="0">
              <a:buNone/>
            </a:pPr>
            <a:r>
              <a:rPr lang="en-US" sz="1600" i="1" dirty="0">
                <a:solidFill>
                  <a:schemeClr val="accent6"/>
                </a:solidFill>
              </a:rPr>
              <a:t>Mỗi bước chạy được ngay, rồi mới sang bước tiếp theo.</a:t>
            </a:r>
            <a:endParaRPr lang="en-US" sz="1600" dirty="0"/>
          </a:p>
        </p:txBody>
      </p:sp>
      <p:sp>
        <p:nvSpPr>
          <p:cNvPr id="33"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Bước 1–3: logic với hình khối</a:t>
            </a:r>
            <a:endParaRPr lang="en-US" sz="3400" dirty="0"/>
          </a:p>
        </p:txBody>
      </p:sp>
      <p:sp>
        <p:nvSpPr>
          <p:cNvPr id="3" name="step-card-1"/>
          <p:cNvSpPr/>
          <p:nvPr/>
        </p:nvSpPr>
        <p:spPr>
          <a:xfrm>
            <a:off x="457200" y="1188720"/>
            <a:ext cx="2359152" cy="809244"/>
          </a:xfrm>
          <a:prstGeom prst="roundRect">
            <a:avLst>
              <a:gd name="adj" fmla="val 3636"/>
            </a:avLst>
          </a:prstGeom>
          <a:solidFill>
            <a:schemeClr val="bg2"/>
          </a:solidFill>
          <a:ln w="12700">
            <a:solidFill>
              <a:schemeClr val="bg2"/>
            </a:solidFill>
            <a:prstDash val="solid"/>
          </a:ln>
        </p:spPr>
      </p:sp>
      <p:sp>
        <p:nvSpPr>
          <p:cNvPr id="4" name="badge-1"/>
          <p:cNvSpPr/>
          <p:nvPr/>
        </p:nvSpPr>
        <p:spPr>
          <a:xfrm>
            <a:off x="640080" y="1344168"/>
            <a:ext cx="420624" cy="420624"/>
          </a:xfrm>
          <a:prstGeom prst="ellipse">
            <a:avLst/>
          </a:prstGeom>
          <a:solidFill>
            <a:schemeClr val="accent1"/>
          </a:solidFill>
          <a:ln w="12700">
            <a:solidFill>
              <a:schemeClr val="accent1"/>
            </a:solidFill>
            <a:prstDash val="solid"/>
          </a:ln>
        </p:spPr>
      </p:sp>
      <p:sp>
        <p:nvSpPr>
          <p:cNvPr id="5" name="Text 3"/>
          <p:cNvSpPr txBox="1"/>
          <p:nvPr/>
        </p:nvSpPr>
        <p:spPr>
          <a:xfrm>
            <a:off x="640080" y="1344168"/>
            <a:ext cx="420624" cy="420624"/>
          </a:xfrm>
          <a:prstGeom prst="rect">
            <a:avLst/>
          </a:prstGeom>
          <a:noFill/>
          <a:ln/>
        </p:spPr>
        <p:txBody>
          <a:bodyPr wrap="square" lIns="0" tIns="0" rIns="0" bIns="0" rtlCol="0" anchor="ctr"/>
          <a:lstStyle/>
          <a:p>
            <a:pPr marL="0" indent="0" algn="ctr">
              <a:buNone/>
            </a:pPr>
            <a:r>
              <a:rPr lang="en-US" sz="1500" b="1" dirty="0">
                <a:solidFill>
                  <a:schemeClr val="bg1"/>
                </a:solidFill>
              </a:rPr>
              <a:t>1</a:t>
            </a:r>
            <a:endParaRPr lang="en-US" sz="1500" dirty="0"/>
          </a:p>
        </p:txBody>
      </p:sp>
      <p:sp>
        <p:nvSpPr>
          <p:cNvPr id="6" name="Text 4"/>
          <p:cNvSpPr txBox="1"/>
          <p:nvPr/>
        </p:nvSpPr>
        <p:spPr>
          <a:xfrm>
            <a:off x="1188720" y="1481328"/>
            <a:ext cx="1645920" cy="420624"/>
          </a:xfrm>
          <a:prstGeom prst="rect">
            <a:avLst/>
          </a:prstGeom>
          <a:noFill/>
          <a:ln/>
        </p:spPr>
        <p:txBody>
          <a:bodyPr wrap="square" lIns="0" tIns="0" rIns="0" bIns="0" rtlCol="0" anchor="ctr"/>
          <a:lstStyle/>
          <a:p>
            <a:r>
              <a:rPr lang="vi-VN" altLang="ja-JP" dirty="0" smtClean="0">
                <a:solidFill>
                  <a:srgbClr val="1F1F1F"/>
                </a:solidFill>
              </a:rPr>
              <a:t>Gift</a:t>
            </a:r>
            <a:r>
              <a:rPr lang="en-US" altLang="ja-JP" dirty="0" smtClean="0">
                <a:solidFill>
                  <a:srgbClr val="1F1F1F"/>
                </a:solidFill>
              </a:rPr>
              <a:t> </a:t>
            </a:r>
            <a:r>
              <a:rPr lang="vi-VN" altLang="ja-JP" dirty="0" smtClean="0">
                <a:solidFill>
                  <a:srgbClr val="1F1F1F"/>
                </a:solidFill>
              </a:rPr>
              <a:t>box đơn</a:t>
            </a:r>
            <a:r>
              <a:rPr lang="en-US" altLang="ja-JP" dirty="0" smtClean="0">
                <a:solidFill>
                  <a:srgbClr val="1F1F1F"/>
                </a:solidFill>
              </a:rPr>
              <a:t> </a:t>
            </a:r>
            <a:r>
              <a:rPr lang="vi-VN" altLang="ja-JP" dirty="0" smtClean="0">
                <a:solidFill>
                  <a:srgbClr val="1F1F1F"/>
                </a:solidFill>
              </a:rPr>
              <a:t>giản</a:t>
            </a:r>
            <a:endParaRPr lang="vi-VN" dirty="0">
              <a:solidFill>
                <a:srgbClr val="1F1F1F"/>
              </a:solidFill>
            </a:endParaRPr>
          </a:p>
          <a:p>
            <a:pPr marL="0" indent="0">
              <a:buNone/>
            </a:pPr>
            <a:endParaRPr lang="en-US" sz="1800" dirty="0"/>
          </a:p>
        </p:txBody>
      </p:sp>
      <p:sp>
        <p:nvSpPr>
          <p:cNvPr id="9" name="code"/>
          <p:cNvSpPr txBox="1"/>
          <p:nvPr/>
        </p:nvSpPr>
        <p:spPr>
          <a:xfrm>
            <a:off x="722376" y="2724912"/>
            <a:ext cx="1984248" cy="1252728"/>
          </a:xfrm>
          <a:prstGeom prst="rect">
            <a:avLst/>
          </a:prstGeom>
          <a:noFill/>
          <a:ln/>
        </p:spPr>
        <p:txBody>
          <a:bodyPr wrap="square" lIns="0" tIns="0" rIns="0" bIns="0" rtlCol="0" anchor="t"/>
          <a:lstStyle/>
          <a:p>
            <a:pPr marL="0" indent="0">
              <a:buNone/>
            </a:pPr>
            <a:endParaRPr lang="en-US" sz="1100" dirty="0"/>
          </a:p>
        </p:txBody>
      </p:sp>
      <p:sp>
        <p:nvSpPr>
          <p:cNvPr id="10" name="step-card-2"/>
          <p:cNvSpPr/>
          <p:nvPr/>
        </p:nvSpPr>
        <p:spPr>
          <a:xfrm>
            <a:off x="3314700" y="1188720"/>
            <a:ext cx="2359152" cy="809244"/>
          </a:xfrm>
          <a:prstGeom prst="roundRect">
            <a:avLst>
              <a:gd name="adj" fmla="val 3636"/>
            </a:avLst>
          </a:prstGeom>
          <a:solidFill>
            <a:schemeClr val="bg2"/>
          </a:solidFill>
          <a:ln w="12700">
            <a:solidFill>
              <a:schemeClr val="bg2"/>
            </a:solidFill>
            <a:prstDash val="solid"/>
          </a:ln>
        </p:spPr>
      </p:sp>
      <p:sp>
        <p:nvSpPr>
          <p:cNvPr id="11" name="badge-2"/>
          <p:cNvSpPr/>
          <p:nvPr/>
        </p:nvSpPr>
        <p:spPr>
          <a:xfrm>
            <a:off x="3497580" y="1344168"/>
            <a:ext cx="420624" cy="420624"/>
          </a:xfrm>
          <a:prstGeom prst="ellipse">
            <a:avLst/>
          </a:prstGeom>
          <a:solidFill>
            <a:schemeClr val="accent1"/>
          </a:solidFill>
          <a:ln w="12700">
            <a:solidFill>
              <a:schemeClr val="accent1"/>
            </a:solidFill>
            <a:prstDash val="solid"/>
          </a:ln>
        </p:spPr>
      </p:sp>
      <p:sp>
        <p:nvSpPr>
          <p:cNvPr id="12" name="Text 10"/>
          <p:cNvSpPr txBox="1"/>
          <p:nvPr/>
        </p:nvSpPr>
        <p:spPr>
          <a:xfrm>
            <a:off x="3497580" y="1344168"/>
            <a:ext cx="420624" cy="420624"/>
          </a:xfrm>
          <a:prstGeom prst="rect">
            <a:avLst/>
          </a:prstGeom>
          <a:noFill/>
          <a:ln/>
        </p:spPr>
        <p:txBody>
          <a:bodyPr wrap="square" lIns="0" tIns="0" rIns="0" bIns="0" rtlCol="0" anchor="ctr"/>
          <a:lstStyle/>
          <a:p>
            <a:pPr marL="0" indent="0" algn="ctr">
              <a:buNone/>
            </a:pPr>
            <a:r>
              <a:rPr lang="en-US" sz="1500" b="1" dirty="0">
                <a:solidFill>
                  <a:schemeClr val="bg1"/>
                </a:solidFill>
              </a:rPr>
              <a:t>2</a:t>
            </a:r>
            <a:endParaRPr lang="en-US" sz="1500" dirty="0"/>
          </a:p>
        </p:txBody>
      </p:sp>
      <p:sp>
        <p:nvSpPr>
          <p:cNvPr id="13" name="Text 11"/>
          <p:cNvSpPr txBox="1"/>
          <p:nvPr/>
        </p:nvSpPr>
        <p:spPr>
          <a:xfrm>
            <a:off x="4027932" y="1344168"/>
            <a:ext cx="1645920" cy="420624"/>
          </a:xfrm>
          <a:prstGeom prst="rect">
            <a:avLst/>
          </a:prstGeom>
          <a:noFill/>
          <a:ln/>
        </p:spPr>
        <p:txBody>
          <a:bodyPr wrap="square" lIns="0" tIns="0" rIns="0" bIns="0" rtlCol="0" anchor="ctr"/>
          <a:lstStyle/>
          <a:p>
            <a:pPr lvl="0">
              <a:lnSpc>
                <a:spcPct val="115000"/>
              </a:lnSpc>
              <a:spcBef>
                <a:spcPts val="900"/>
              </a:spcBef>
              <a:buSzPts val="3200"/>
            </a:pPr>
            <a:r>
              <a:rPr lang="en-US" altLang="ja-JP" dirty="0">
                <a:solidFill>
                  <a:srgbClr val="1F1F1F"/>
                </a:solidFill>
              </a:rPr>
              <a:t>Click vào thì hộp mở</a:t>
            </a:r>
            <a:endParaRPr lang="en-US" dirty="0">
              <a:solidFill>
                <a:srgbClr val="1F1F1F"/>
              </a:solidFill>
            </a:endParaRPr>
          </a:p>
        </p:txBody>
      </p:sp>
      <p:sp>
        <p:nvSpPr>
          <p:cNvPr id="16" name="code"/>
          <p:cNvSpPr txBox="1"/>
          <p:nvPr/>
        </p:nvSpPr>
        <p:spPr>
          <a:xfrm>
            <a:off x="3579876" y="2724912"/>
            <a:ext cx="1984248" cy="1252728"/>
          </a:xfrm>
          <a:prstGeom prst="rect">
            <a:avLst/>
          </a:prstGeom>
          <a:noFill/>
          <a:ln/>
        </p:spPr>
        <p:txBody>
          <a:bodyPr wrap="square" lIns="0" tIns="0" rIns="0" bIns="0" rtlCol="0" anchor="t"/>
          <a:lstStyle/>
          <a:p>
            <a:pPr marL="0" indent="0">
              <a:buNone/>
            </a:pPr>
            <a:endParaRPr lang="en-US" sz="1100" dirty="0"/>
          </a:p>
        </p:txBody>
      </p:sp>
      <p:sp>
        <p:nvSpPr>
          <p:cNvPr id="17" name="step-card-3"/>
          <p:cNvSpPr/>
          <p:nvPr/>
        </p:nvSpPr>
        <p:spPr>
          <a:xfrm>
            <a:off x="6172200" y="1188720"/>
            <a:ext cx="2249424" cy="809244"/>
          </a:xfrm>
          <a:prstGeom prst="roundRect">
            <a:avLst>
              <a:gd name="adj" fmla="val 3636"/>
            </a:avLst>
          </a:prstGeom>
          <a:solidFill>
            <a:schemeClr val="bg2"/>
          </a:solidFill>
          <a:ln w="12700">
            <a:solidFill>
              <a:schemeClr val="bg2"/>
            </a:solidFill>
            <a:prstDash val="solid"/>
          </a:ln>
        </p:spPr>
      </p:sp>
      <p:sp>
        <p:nvSpPr>
          <p:cNvPr id="18" name="badge-3"/>
          <p:cNvSpPr/>
          <p:nvPr/>
        </p:nvSpPr>
        <p:spPr>
          <a:xfrm>
            <a:off x="6355080" y="1344168"/>
            <a:ext cx="420624" cy="420624"/>
          </a:xfrm>
          <a:prstGeom prst="ellipse">
            <a:avLst/>
          </a:prstGeom>
          <a:solidFill>
            <a:schemeClr val="accent1"/>
          </a:solidFill>
          <a:ln w="12700">
            <a:solidFill>
              <a:schemeClr val="accent1"/>
            </a:solidFill>
            <a:prstDash val="solid"/>
          </a:ln>
        </p:spPr>
      </p:sp>
      <p:sp>
        <p:nvSpPr>
          <p:cNvPr id="19" name="Text 17"/>
          <p:cNvSpPr txBox="1"/>
          <p:nvPr/>
        </p:nvSpPr>
        <p:spPr>
          <a:xfrm>
            <a:off x="6355080" y="1344168"/>
            <a:ext cx="420624" cy="420624"/>
          </a:xfrm>
          <a:prstGeom prst="rect">
            <a:avLst/>
          </a:prstGeom>
          <a:noFill/>
          <a:ln/>
        </p:spPr>
        <p:txBody>
          <a:bodyPr wrap="square" lIns="0" tIns="0" rIns="0" bIns="0" rtlCol="0" anchor="ctr"/>
          <a:lstStyle/>
          <a:p>
            <a:pPr marL="0" indent="0" algn="ctr">
              <a:buNone/>
            </a:pPr>
            <a:r>
              <a:rPr lang="en-US" sz="1500" b="1" dirty="0">
                <a:solidFill>
                  <a:schemeClr val="bg1"/>
                </a:solidFill>
              </a:rPr>
              <a:t>3</a:t>
            </a:r>
            <a:endParaRPr lang="en-US" sz="1500" dirty="0"/>
          </a:p>
        </p:txBody>
      </p:sp>
      <p:sp>
        <p:nvSpPr>
          <p:cNvPr id="20" name="Text 18"/>
          <p:cNvSpPr txBox="1"/>
          <p:nvPr/>
        </p:nvSpPr>
        <p:spPr>
          <a:xfrm>
            <a:off x="6885432" y="1344168"/>
            <a:ext cx="1645920" cy="420624"/>
          </a:xfrm>
          <a:prstGeom prst="rect">
            <a:avLst/>
          </a:prstGeom>
          <a:noFill/>
          <a:ln/>
        </p:spPr>
        <p:txBody>
          <a:bodyPr wrap="square" lIns="0" tIns="0" rIns="0" bIns="0" rtlCol="0" anchor="ctr"/>
          <a:lstStyle/>
          <a:p>
            <a:pPr lvl="0">
              <a:lnSpc>
                <a:spcPct val="115000"/>
              </a:lnSpc>
              <a:spcBef>
                <a:spcPts val="900"/>
              </a:spcBef>
              <a:buSzPts val="3200"/>
            </a:pPr>
            <a:r>
              <a:rPr lang="en-US" altLang="ja-JP" dirty="0">
                <a:solidFill>
                  <a:srgbClr val="1F1F1F"/>
                </a:solidFill>
              </a:rPr>
              <a:t>Add thêm quà</a:t>
            </a:r>
            <a:endParaRPr lang="en-US" dirty="0">
              <a:solidFill>
                <a:srgbClr val="1F1F1F"/>
              </a:solidFill>
            </a:endParaRPr>
          </a:p>
        </p:txBody>
      </p:sp>
      <p:sp>
        <p:nvSpPr>
          <p:cNvPr id="24" name="Text 22"/>
          <p:cNvSpPr txBox="1"/>
          <p:nvPr/>
        </p:nvSpPr>
        <p:spPr>
          <a:xfrm>
            <a:off x="457200" y="2894076"/>
            <a:ext cx="8229600" cy="365760"/>
          </a:xfrm>
          <a:prstGeom prst="rect">
            <a:avLst/>
          </a:prstGeom>
          <a:noFill/>
          <a:ln/>
        </p:spPr>
        <p:txBody>
          <a:bodyPr wrap="square" lIns="0" tIns="0" rIns="0" bIns="0" rtlCol="0" anchor="t"/>
          <a:lstStyle/>
          <a:p>
            <a:pPr marL="0" indent="0">
              <a:buNone/>
            </a:pPr>
            <a:r>
              <a:rPr lang="en-US" sz="1600" i="1" dirty="0">
                <a:solidFill>
                  <a:schemeClr val="accent6"/>
                </a:solidFill>
              </a:rPr>
              <a:t>Toàn bộ logic mở/đóng chạy đúng trước khi có mô hình đẹp.</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Bước 4–5: mô hình GLB và bóng đổ</a:t>
            </a:r>
            <a:endParaRPr lang="en-US" sz="3400" dirty="0"/>
          </a:p>
        </p:txBody>
      </p:sp>
      <p:sp>
        <p:nvSpPr>
          <p:cNvPr id="3" name="badge-4"/>
          <p:cNvSpPr/>
          <p:nvPr/>
        </p:nvSpPr>
        <p:spPr>
          <a:xfrm>
            <a:off x="457200" y="1188720"/>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457200" y="11887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5" name="Text 3"/>
          <p:cNvSpPr txBox="1"/>
          <p:nvPr/>
        </p:nvSpPr>
        <p:spPr>
          <a:xfrm>
            <a:off x="1051560" y="1188720"/>
            <a:ext cx="3657600" cy="457200"/>
          </a:xfrm>
          <a:prstGeom prst="rect">
            <a:avLst/>
          </a:prstGeom>
          <a:noFill/>
          <a:ln/>
        </p:spPr>
        <p:txBody>
          <a:bodyPr wrap="square" lIns="0" tIns="0" rIns="0" bIns="0" rtlCol="0" anchor="ctr"/>
          <a:lstStyle/>
          <a:p>
            <a:r>
              <a:rPr lang="en-US" altLang="ja-JP" sz="2000" dirty="0">
                <a:solidFill>
                  <a:srgbClr val="1F1F1F"/>
                </a:solidFill>
              </a:rPr>
              <a:t>Đổi thành modal 3D</a:t>
            </a:r>
            <a:endParaRPr lang="en-US" sz="2000" dirty="0"/>
          </a:p>
        </p:txBody>
      </p:sp>
      <p:sp>
        <p:nvSpPr>
          <p:cNvPr id="6" name="Text 4"/>
          <p:cNvSpPr txBox="1"/>
          <p:nvPr/>
        </p:nvSpPr>
        <p:spPr>
          <a:xfrm>
            <a:off x="457200" y="1719072"/>
            <a:ext cx="4251960" cy="320040"/>
          </a:xfrm>
          <a:prstGeom prst="rect">
            <a:avLst/>
          </a:prstGeom>
          <a:noFill/>
          <a:ln/>
        </p:spPr>
        <p:txBody>
          <a:bodyPr wrap="square" lIns="0" tIns="0" rIns="0" bIns="0" rtlCol="0" anchor="t"/>
          <a:lstStyle/>
          <a:p>
            <a:pPr marL="0" indent="0">
              <a:buNone/>
            </a:pPr>
            <a:r>
              <a:rPr lang="en-US" sz="1400" dirty="0">
                <a:solidFill>
                  <a:schemeClr val="tx1"/>
                </a:solidFill>
              </a:rPr>
              <a:t>Logic giữ nguyên, chỉ đổi vật được di chuyển.</a:t>
            </a:r>
            <a:endParaRPr lang="en-US" sz="1400" dirty="0"/>
          </a:p>
        </p:txBody>
      </p:sp>
      <p:sp>
        <p:nvSpPr>
          <p:cNvPr id="7" name="code-bg"/>
          <p:cNvSpPr/>
          <p:nvPr/>
        </p:nvSpPr>
        <p:spPr>
          <a:xfrm>
            <a:off x="457200" y="2084832"/>
            <a:ext cx="4251960" cy="868680"/>
          </a:xfrm>
          <a:prstGeom prst="roundRect">
            <a:avLst>
              <a:gd name="adj" fmla="val 6316"/>
            </a:avLst>
          </a:prstGeom>
          <a:solidFill>
            <a:schemeClr val="tx2"/>
          </a:solidFill>
          <a:ln w="12700">
            <a:solidFill>
              <a:schemeClr val="tx2"/>
            </a:solidFill>
            <a:prstDash val="solid"/>
          </a:ln>
        </p:spPr>
      </p:sp>
      <p:sp>
        <p:nvSpPr>
          <p:cNvPr id="8" name="code"/>
          <p:cNvSpPr txBox="1"/>
          <p:nvPr/>
        </p:nvSpPr>
        <p:spPr>
          <a:xfrm>
            <a:off x="585216" y="2176272"/>
            <a:ext cx="3995928" cy="685800"/>
          </a:xfrm>
          <a:prstGeom prst="rect">
            <a:avLst/>
          </a:prstGeom>
          <a:noFill/>
          <a:ln/>
        </p:spPr>
        <p:txBody>
          <a:bodyPr wrap="square" lIns="0" tIns="0" rIns="0" bIns="0" rtlCol="0" anchor="t"/>
          <a:lstStyle/>
          <a:p>
            <a:pPr marL="0" indent="0">
              <a:buNone/>
            </a:pPr>
            <a:r>
              <a:rPr lang="en-US" sz="1100" dirty="0">
                <a:solidFill>
                  <a:schemeClr val="bg2"/>
                </a:solidFill>
                <a:latin typeface="Consolas" pitchFamily="34" charset="0"/>
                <a:ea typeface="Consolas" pitchFamily="34" charset="-122"/>
                <a:cs typeface="Consolas" pitchFamily="34" charset="-120"/>
              </a:rPr>
              <a:t>const { scene, nodes } =</a:t>
            </a:r>
            <a:endParaRPr lang="en-US" sz="1100" dirty="0"/>
          </a:p>
          <a:p>
            <a:pPr marL="0" indent="0">
              <a:buNone/>
            </a:pPr>
            <a:r>
              <a:rPr lang="en-US" sz="1100" dirty="0">
                <a:solidFill>
                  <a:schemeClr val="bg2"/>
                </a:solidFill>
                <a:latin typeface="Consolas" pitchFamily="34" charset="0"/>
                <a:ea typeface="Consolas" pitchFamily="34" charset="-122"/>
                <a:cs typeface="Consolas" pitchFamily="34" charset="-120"/>
              </a:rPr>
              <a:t>  useGLTF('/models/gift_box_handson.glb');</a:t>
            </a:r>
            <a:endParaRPr lang="en-US" sz="1100" dirty="0"/>
          </a:p>
          <a:p>
            <a:pPr marL="0" indent="0">
              <a:buNone/>
            </a:pPr>
            <a:r>
              <a:rPr lang="en-US" sz="1100" dirty="0">
                <a:solidFill>
                  <a:schemeClr val="bg2"/>
                </a:solidFill>
                <a:latin typeface="Consolas" pitchFamily="34" charset="0"/>
                <a:ea typeface="Consolas" pitchFamily="34" charset="-122"/>
                <a:cs typeface="Consolas" pitchFamily="34" charset="-120"/>
              </a:rPr>
              <a:t>const lid = nodes.Lid; // nắp + ruy băng</a:t>
            </a:r>
            <a:endParaRPr lang="en-US" sz="1100" dirty="0"/>
          </a:p>
        </p:txBody>
      </p:sp>
      <p:sp>
        <p:nvSpPr>
          <p:cNvPr id="9" name="badge-5"/>
          <p:cNvSpPr/>
          <p:nvPr/>
        </p:nvSpPr>
        <p:spPr>
          <a:xfrm>
            <a:off x="457200" y="3127248"/>
            <a:ext cx="457200" cy="457200"/>
          </a:xfrm>
          <a:prstGeom prst="ellipse">
            <a:avLst/>
          </a:prstGeom>
          <a:solidFill>
            <a:schemeClr val="accent2"/>
          </a:solidFill>
          <a:ln w="12700">
            <a:solidFill>
              <a:schemeClr val="accent2"/>
            </a:solidFill>
            <a:prstDash val="solid"/>
          </a:ln>
        </p:spPr>
      </p:sp>
      <p:sp>
        <p:nvSpPr>
          <p:cNvPr id="10" name="Text 8"/>
          <p:cNvSpPr txBox="1"/>
          <p:nvPr/>
        </p:nvSpPr>
        <p:spPr>
          <a:xfrm>
            <a:off x="457200" y="3127248"/>
            <a:ext cx="457200" cy="457200"/>
          </a:xfrm>
          <a:prstGeom prst="rect">
            <a:avLst/>
          </a:prstGeom>
          <a:noFill/>
          <a:ln/>
        </p:spPr>
        <p:txBody>
          <a:bodyPr wrap="square" lIns="0" tIns="0" rIns="0" bIns="0" rtlCol="0" anchor="ctr"/>
          <a:lstStyle/>
          <a:p>
            <a:pPr marL="0" indent="0" algn="ctr">
              <a:buNone/>
            </a:pPr>
            <a:r>
              <a:rPr lang="en-US" sz="1600" b="1" dirty="0">
                <a:solidFill>
                  <a:schemeClr val="tx2"/>
                </a:solidFill>
              </a:rPr>
              <a:t>5</a:t>
            </a:r>
            <a:endParaRPr lang="en-US" sz="1600" dirty="0"/>
          </a:p>
        </p:txBody>
      </p:sp>
      <p:sp>
        <p:nvSpPr>
          <p:cNvPr id="11" name="Text 9"/>
          <p:cNvSpPr txBox="1"/>
          <p:nvPr/>
        </p:nvSpPr>
        <p:spPr>
          <a:xfrm>
            <a:off x="1051560" y="3127248"/>
            <a:ext cx="3657600" cy="457200"/>
          </a:xfrm>
          <a:prstGeom prst="rect">
            <a:avLst/>
          </a:prstGeom>
          <a:noFill/>
          <a:ln/>
        </p:spPr>
        <p:txBody>
          <a:bodyPr wrap="square" lIns="0" tIns="0" rIns="0" bIns="0" rtlCol="0" anchor="ctr"/>
          <a:lstStyle/>
          <a:p>
            <a:pPr marL="0" indent="0">
              <a:buNone/>
            </a:pPr>
            <a:r>
              <a:rPr lang="en-US" sz="2000" b="1" dirty="0">
                <a:solidFill>
                  <a:schemeClr val="tx2"/>
                </a:solidFill>
              </a:rPr>
              <a:t>Bật bóng đổ</a:t>
            </a:r>
            <a:endParaRPr lang="en-US" sz="2000" dirty="0"/>
          </a:p>
        </p:txBody>
      </p:sp>
      <p:sp>
        <p:nvSpPr>
          <p:cNvPr id="12" name="Text 10"/>
          <p:cNvSpPr txBox="1"/>
          <p:nvPr/>
        </p:nvSpPr>
        <p:spPr>
          <a:xfrm>
            <a:off x="457200" y="3657600"/>
            <a:ext cx="4251960" cy="320040"/>
          </a:xfrm>
          <a:prstGeom prst="rect">
            <a:avLst/>
          </a:prstGeom>
          <a:noFill/>
          <a:ln/>
        </p:spPr>
        <p:txBody>
          <a:bodyPr wrap="square" lIns="0" tIns="0" rIns="0" bIns="0" rtlCol="0" anchor="t"/>
          <a:lstStyle/>
          <a:p>
            <a:pPr marL="0" indent="0">
              <a:buNone/>
            </a:pPr>
            <a:r>
              <a:rPr lang="en-US" sz="1400" dirty="0">
                <a:solidFill>
                  <a:schemeClr val="tx1"/>
                </a:solidFill>
              </a:rPr>
              <a:t>Mesh trong GLB mặc định không đổ bóng.</a:t>
            </a:r>
            <a:endParaRPr lang="en-US" sz="1400" dirty="0"/>
          </a:p>
        </p:txBody>
      </p:sp>
      <p:sp>
        <p:nvSpPr>
          <p:cNvPr id="13" name="code-bg"/>
          <p:cNvSpPr/>
          <p:nvPr/>
        </p:nvSpPr>
        <p:spPr>
          <a:xfrm>
            <a:off x="457200" y="4023360"/>
            <a:ext cx="4251960" cy="713232"/>
          </a:xfrm>
          <a:prstGeom prst="roundRect">
            <a:avLst>
              <a:gd name="adj" fmla="val 7692"/>
            </a:avLst>
          </a:prstGeom>
          <a:solidFill>
            <a:schemeClr val="tx2"/>
          </a:solidFill>
          <a:ln w="12700">
            <a:solidFill>
              <a:schemeClr val="tx2"/>
            </a:solidFill>
            <a:prstDash val="solid"/>
          </a:ln>
        </p:spPr>
      </p:sp>
      <p:sp>
        <p:nvSpPr>
          <p:cNvPr id="14" name="code"/>
          <p:cNvSpPr txBox="1"/>
          <p:nvPr/>
        </p:nvSpPr>
        <p:spPr>
          <a:xfrm>
            <a:off x="585216" y="4114800"/>
            <a:ext cx="3995928" cy="530352"/>
          </a:xfrm>
          <a:prstGeom prst="rect">
            <a:avLst/>
          </a:prstGeom>
          <a:noFill/>
          <a:ln/>
        </p:spPr>
        <p:txBody>
          <a:bodyPr wrap="square" lIns="0" tIns="0" rIns="0" bIns="0" rtlCol="0" anchor="t"/>
          <a:lstStyle/>
          <a:p>
            <a:pPr marL="0" indent="0">
              <a:buNone/>
            </a:pPr>
            <a:r>
              <a:rPr lang="en-US" sz="1100" dirty="0">
                <a:solidFill>
                  <a:schemeClr val="bg2"/>
                </a:solidFill>
                <a:latin typeface="Consolas" pitchFamily="34" charset="0"/>
                <a:ea typeface="Consolas" pitchFamily="34" charset="-122"/>
                <a:cs typeface="Consolas" pitchFamily="34" charset="-120"/>
              </a:rPr>
              <a:t>scene.traverse((o) =&gt; {</a:t>
            </a:r>
            <a:endParaRPr lang="en-US" sz="1100" dirty="0"/>
          </a:p>
          <a:p>
            <a:pPr marL="0" indent="0">
              <a:buNone/>
            </a:pPr>
            <a:r>
              <a:rPr lang="en-US" sz="1100" dirty="0">
                <a:solidFill>
                  <a:schemeClr val="bg2"/>
                </a:solidFill>
                <a:latin typeface="Consolas" pitchFamily="34" charset="0"/>
                <a:ea typeface="Consolas" pitchFamily="34" charset="-122"/>
                <a:cs typeface="Consolas" pitchFamily="34" charset="-120"/>
              </a:rPr>
              <a:t>  if (o.isMesh) o.castShadow = true;</a:t>
            </a:r>
            <a:endParaRPr lang="en-US" sz="1100" dirty="0"/>
          </a:p>
          <a:p>
            <a:pPr marL="0" indent="0">
              <a:buNone/>
            </a:pPr>
            <a:r>
              <a:rPr lang="en-US" sz="1100" dirty="0">
                <a:solidFill>
                  <a:schemeClr val="bg2"/>
                </a:solidFill>
                <a:latin typeface="Consolas" pitchFamily="34" charset="0"/>
                <a:ea typeface="Consolas" pitchFamily="34" charset="-122"/>
                <a:cs typeface="Consolas" pitchFamily="34" charset="-120"/>
              </a:rPr>
              <a:t>});</a:t>
            </a:r>
            <a:endParaRPr lang="en-US" sz="1100" dirty="0"/>
          </a:p>
        </p:txBody>
      </p:sp>
      <p:pic>
        <p:nvPicPr>
          <p:cNvPr id="15" name="shot-glb" descr="C:\Users\tgtgcr\AppData\Local\Temp\claude\D--TgProject-Thuong-Bai-tap-ve-nha\3c19403e-e81d-4221-80a3-61a0f7f5d059\scratchpad\deck\img\glb.png"/>
          <p:cNvPicPr>
            <a:picLocks noChangeAspect="1"/>
          </p:cNvPicPr>
          <p:nvPr/>
        </p:nvPicPr>
        <p:blipFill>
          <a:blip r:embed="rId3"/>
          <a:stretch>
            <a:fillRect/>
          </a:stretch>
        </p:blipFill>
        <p:spPr>
          <a:xfrm>
            <a:off x="4983480" y="1280160"/>
            <a:ext cx="3703320" cy="3172968"/>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Bước 6: xoay góc nhìn 360°</a:t>
            </a:r>
            <a:endParaRPr lang="en-US" sz="3400" dirty="0"/>
          </a:p>
        </p:txBody>
      </p:sp>
      <p:pic>
        <p:nvPicPr>
          <p:cNvPr id="3" name="shot-orbit" descr="C:\Users\tgtgcr\AppData\Local\Temp\claude\D--TgProject-Thuong-Bai-tap-ve-nha\3c19403e-e81d-4221-80a3-61a0f7f5d059\scratchpad\deck\img\orbit.png"/>
          <p:cNvPicPr>
            <a:picLocks noChangeAspect="1"/>
          </p:cNvPicPr>
          <p:nvPr/>
        </p:nvPicPr>
        <p:blipFill>
          <a:blip r:embed="rId3"/>
          <a:stretch>
            <a:fillRect/>
          </a:stretch>
        </p:blipFill>
        <p:spPr>
          <a:xfrm>
            <a:off x="457200" y="1234440"/>
            <a:ext cx="4206240" cy="3383280"/>
          </a:xfrm>
          <a:prstGeom prst="rect">
            <a:avLst/>
          </a:prstGeom>
        </p:spPr>
      </p:pic>
      <p:sp>
        <p:nvSpPr>
          <p:cNvPr id="4" name="badge-6"/>
          <p:cNvSpPr/>
          <p:nvPr/>
        </p:nvSpPr>
        <p:spPr>
          <a:xfrm>
            <a:off x="4937760" y="1234440"/>
            <a:ext cx="457200" cy="457200"/>
          </a:xfrm>
          <a:prstGeom prst="ellipse">
            <a:avLst/>
          </a:prstGeom>
          <a:solidFill>
            <a:schemeClr val="accent2"/>
          </a:solidFill>
          <a:ln w="12700">
            <a:solidFill>
              <a:schemeClr val="accent2"/>
            </a:solidFill>
            <a:prstDash val="solid"/>
          </a:ln>
        </p:spPr>
      </p:sp>
      <p:sp>
        <p:nvSpPr>
          <p:cNvPr id="5" name="Text 2"/>
          <p:cNvSpPr txBox="1"/>
          <p:nvPr/>
        </p:nvSpPr>
        <p:spPr>
          <a:xfrm>
            <a:off x="4937760" y="1234440"/>
            <a:ext cx="457200" cy="457200"/>
          </a:xfrm>
          <a:prstGeom prst="rect">
            <a:avLst/>
          </a:prstGeom>
          <a:noFill/>
          <a:ln/>
        </p:spPr>
        <p:txBody>
          <a:bodyPr wrap="square" lIns="0" tIns="0" rIns="0" bIns="0" rtlCol="0" anchor="ctr"/>
          <a:lstStyle/>
          <a:p>
            <a:pPr marL="0" indent="0" algn="ctr">
              <a:buNone/>
            </a:pPr>
            <a:r>
              <a:rPr lang="en-US" sz="1600" b="1" dirty="0">
                <a:solidFill>
                  <a:schemeClr val="tx2"/>
                </a:solidFill>
              </a:rPr>
              <a:t>6</a:t>
            </a:r>
            <a:endParaRPr lang="en-US" sz="1600" dirty="0"/>
          </a:p>
        </p:txBody>
      </p:sp>
      <p:sp>
        <p:nvSpPr>
          <p:cNvPr id="6" name="Text 3"/>
          <p:cNvSpPr txBox="1"/>
          <p:nvPr/>
        </p:nvSpPr>
        <p:spPr>
          <a:xfrm>
            <a:off x="5532120" y="1234440"/>
            <a:ext cx="3154680" cy="457200"/>
          </a:xfrm>
          <a:prstGeom prst="rect">
            <a:avLst/>
          </a:prstGeom>
          <a:noFill/>
          <a:ln/>
        </p:spPr>
        <p:txBody>
          <a:bodyPr wrap="square" lIns="0" tIns="0" rIns="0" bIns="0" rtlCol="0" anchor="ctr"/>
          <a:lstStyle/>
          <a:p>
            <a:pPr marL="0" indent="0">
              <a:buNone/>
            </a:pPr>
            <a:r>
              <a:rPr lang="en-US" sz="2000" b="1" dirty="0">
                <a:solidFill>
                  <a:schemeClr val="tx2"/>
                </a:solidFill>
              </a:rPr>
              <a:t>OrbitControls</a:t>
            </a:r>
            <a:endParaRPr lang="en-US" sz="2000" dirty="0"/>
          </a:p>
        </p:txBody>
      </p:sp>
      <p:sp>
        <p:nvSpPr>
          <p:cNvPr id="7" name="Text 4"/>
          <p:cNvSpPr txBox="1"/>
          <p:nvPr/>
        </p:nvSpPr>
        <p:spPr>
          <a:xfrm>
            <a:off x="4937760" y="1828800"/>
            <a:ext cx="3749040" cy="13258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Kéo để xoay, cuộn để phóng to/thu nhỏ</a:t>
            </a:r>
            <a:endParaRPr lang="en-US" sz="1600" dirty="0"/>
          </a:p>
          <a:p>
            <a:pPr marL="342900" indent="-342900">
              <a:spcAft>
                <a:spcPts val="800"/>
              </a:spcAft>
              <a:buSzPct val="100000"/>
              <a:buChar char="•"/>
            </a:pPr>
            <a:r>
              <a:rPr lang="en-US" sz="1600" dirty="0">
                <a:solidFill>
                  <a:schemeClr val="tx1"/>
                </a:solidFill>
              </a:rPr>
              <a:t>Không cho xoay xuống dưới sàn</a:t>
            </a:r>
            <a:endParaRPr lang="en-US" sz="1600" dirty="0"/>
          </a:p>
          <a:p>
            <a:pPr marL="342900" indent="-342900">
              <a:spcAft>
                <a:spcPts val="800"/>
              </a:spcAft>
              <a:buSzPct val="100000"/>
              <a:buChar char="•"/>
            </a:pPr>
            <a:r>
              <a:rPr lang="en-US" sz="1600" dirty="0">
                <a:solidFill>
                  <a:schemeClr val="tx1"/>
                </a:solidFill>
              </a:rPr>
              <a:t>Kéo để xoay không làm hộp mở nhầm</a:t>
            </a:r>
            <a:endParaRPr lang="en-US" sz="1600" dirty="0"/>
          </a:p>
        </p:txBody>
      </p:sp>
      <p:sp>
        <p:nvSpPr>
          <p:cNvPr id="8" name="code-bg"/>
          <p:cNvSpPr/>
          <p:nvPr/>
        </p:nvSpPr>
        <p:spPr>
          <a:xfrm>
            <a:off x="4937760" y="3246120"/>
            <a:ext cx="3749040" cy="1371600"/>
          </a:xfrm>
          <a:prstGeom prst="roundRect">
            <a:avLst>
              <a:gd name="adj" fmla="val 4000"/>
            </a:avLst>
          </a:prstGeom>
          <a:solidFill>
            <a:schemeClr val="tx2"/>
          </a:solidFill>
          <a:ln w="12700">
            <a:solidFill>
              <a:schemeClr val="tx2"/>
            </a:solidFill>
            <a:prstDash val="solid"/>
          </a:ln>
        </p:spPr>
      </p:sp>
      <p:sp>
        <p:nvSpPr>
          <p:cNvPr id="9" name="code"/>
          <p:cNvSpPr txBox="1"/>
          <p:nvPr/>
        </p:nvSpPr>
        <p:spPr>
          <a:xfrm>
            <a:off x="5065776" y="3337560"/>
            <a:ext cx="3493008" cy="1188720"/>
          </a:xfrm>
          <a:prstGeom prst="rect">
            <a:avLst/>
          </a:prstGeom>
          <a:noFill/>
          <a:ln/>
        </p:spPr>
        <p:txBody>
          <a:bodyPr wrap="square" lIns="0" tIns="0" rIns="0" bIns="0" rtlCol="0" anchor="t"/>
          <a:lstStyle/>
          <a:p>
            <a:pPr marL="0" indent="0">
              <a:buNone/>
            </a:pPr>
            <a:r>
              <a:rPr lang="en-US" sz="1100" dirty="0">
                <a:solidFill>
                  <a:schemeClr val="bg2"/>
                </a:solidFill>
                <a:latin typeface="Consolas" pitchFamily="34" charset="0"/>
                <a:ea typeface="Consolas" pitchFamily="34" charset="-122"/>
                <a:cs typeface="Consolas" pitchFamily="34" charset="-120"/>
              </a:rPr>
              <a:t>&lt;OrbitControls makeDefault</a:t>
            </a:r>
            <a:endParaRPr lang="en-US" sz="1100" dirty="0"/>
          </a:p>
          <a:p>
            <a:pPr marL="0" indent="0">
              <a:buNone/>
            </a:pPr>
            <a:r>
              <a:rPr lang="en-US" sz="1100" dirty="0">
                <a:solidFill>
                  <a:schemeClr val="bg2"/>
                </a:solidFill>
                <a:latin typeface="Consolas" pitchFamily="34" charset="0"/>
                <a:ea typeface="Consolas" pitchFamily="34" charset="-122"/>
                <a:cs typeface="Consolas" pitchFamily="34" charset="-120"/>
              </a:rPr>
              <a:t>  maxPolarAngle={Math.PI / 2 - 0.05} /&gt;</a:t>
            </a:r>
            <a:endParaRPr lang="en-US" sz="1100" dirty="0"/>
          </a:p>
          <a:p>
            <a:pPr marL="0" indent="0">
              <a:buNone/>
            </a:pPr>
            <a:endParaRPr lang="en-US" sz="1100" dirty="0"/>
          </a:p>
          <a:p>
            <a:pPr marL="0" indent="0">
              <a:buNone/>
            </a:pPr>
            <a:r>
              <a:rPr lang="en-US" sz="1100" dirty="0">
                <a:solidFill>
                  <a:schemeClr val="bg2"/>
                </a:solidFill>
                <a:latin typeface="Consolas" pitchFamily="34" charset="0"/>
                <a:ea typeface="Consolas" pitchFamily="34" charset="-122"/>
                <a:cs typeface="Consolas" pitchFamily="34" charset="-120"/>
              </a:rPr>
              <a:t>// trong onClick của hộp</a:t>
            </a:r>
            <a:endParaRPr lang="en-US" sz="1100" dirty="0"/>
          </a:p>
          <a:p>
            <a:pPr marL="0" indent="0">
              <a:buNone/>
            </a:pPr>
            <a:r>
              <a:rPr lang="en-US" sz="1100" dirty="0">
                <a:solidFill>
                  <a:schemeClr val="bg2"/>
                </a:solidFill>
                <a:latin typeface="Consolas" pitchFamily="34" charset="0"/>
                <a:ea typeface="Consolas" pitchFamily="34" charset="-122"/>
                <a:cs typeface="Consolas" pitchFamily="34" charset="-120"/>
              </a:rPr>
              <a:t>if (e.delta &gt; 2) return;</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r>
              <a:rPr lang="en-US" sz="3400" b="1" dirty="0">
                <a:solidFill>
                  <a:schemeClr val="tx2"/>
                </a:solidFill>
              </a:rPr>
              <a:t>Bước 7: </a:t>
            </a:r>
            <a:r>
              <a:rPr lang="en-US" sz="3600" dirty="0">
                <a:solidFill>
                  <a:schemeClr val="tx1"/>
                </a:solidFill>
              </a:rPr>
              <a:t>Ánh sáng thay đổi </a:t>
            </a:r>
            <a:r>
              <a:rPr lang="en-US" sz="3600" dirty="0" smtClean="0">
                <a:solidFill>
                  <a:schemeClr val="tx1"/>
                </a:solidFill>
              </a:rPr>
              <a:t>được</a:t>
            </a:r>
            <a:endParaRPr lang="en-US" sz="3400" dirty="0"/>
          </a:p>
        </p:txBody>
      </p:sp>
      <p:sp>
        <p:nvSpPr>
          <p:cNvPr id="3" name="badge-7"/>
          <p:cNvSpPr/>
          <p:nvPr/>
        </p:nvSpPr>
        <p:spPr>
          <a:xfrm>
            <a:off x="457200" y="1234440"/>
            <a:ext cx="457200" cy="457200"/>
          </a:xfrm>
          <a:prstGeom prst="ellipse">
            <a:avLst/>
          </a:prstGeom>
          <a:solidFill>
            <a:schemeClr val="accent2"/>
          </a:solidFill>
          <a:ln w="12700">
            <a:solidFill>
              <a:schemeClr val="accent2"/>
            </a:solidFill>
            <a:prstDash val="solid"/>
          </a:ln>
        </p:spPr>
      </p:sp>
      <p:sp>
        <p:nvSpPr>
          <p:cNvPr id="4" name="Text 2"/>
          <p:cNvSpPr txBox="1"/>
          <p:nvPr/>
        </p:nvSpPr>
        <p:spPr>
          <a:xfrm>
            <a:off x="457200" y="1234440"/>
            <a:ext cx="457200" cy="457200"/>
          </a:xfrm>
          <a:prstGeom prst="rect">
            <a:avLst/>
          </a:prstGeom>
          <a:noFill/>
          <a:ln/>
        </p:spPr>
        <p:txBody>
          <a:bodyPr wrap="square" lIns="0" tIns="0" rIns="0" bIns="0" rtlCol="0" anchor="ctr"/>
          <a:lstStyle/>
          <a:p>
            <a:pPr marL="0" indent="0" algn="ctr">
              <a:buNone/>
            </a:pPr>
            <a:r>
              <a:rPr lang="en-US" sz="1600" b="1" dirty="0">
                <a:solidFill>
                  <a:schemeClr val="tx2"/>
                </a:solidFill>
              </a:rPr>
              <a:t>7</a:t>
            </a:r>
            <a:endParaRPr lang="en-US" sz="1600" dirty="0"/>
          </a:p>
        </p:txBody>
      </p:sp>
      <p:sp>
        <p:nvSpPr>
          <p:cNvPr id="5" name="Text 3"/>
          <p:cNvSpPr txBox="1"/>
          <p:nvPr/>
        </p:nvSpPr>
        <p:spPr>
          <a:xfrm>
            <a:off x="1051560" y="1234440"/>
            <a:ext cx="3429000" cy="457200"/>
          </a:xfrm>
          <a:prstGeom prst="rect">
            <a:avLst/>
          </a:prstGeom>
          <a:noFill/>
          <a:ln/>
        </p:spPr>
        <p:txBody>
          <a:bodyPr wrap="square" lIns="0" tIns="0" rIns="0" bIns="0" rtlCol="0" anchor="ctr"/>
          <a:lstStyle/>
          <a:p>
            <a:r>
              <a:rPr lang="en-US" sz="2000" b="1" dirty="0">
                <a:solidFill>
                  <a:schemeClr val="tx2"/>
                </a:solidFill>
              </a:rPr>
              <a:t>directionalLight + PivotControls</a:t>
            </a:r>
            <a:endParaRPr lang="en-US" sz="2000" dirty="0"/>
          </a:p>
        </p:txBody>
      </p:sp>
      <p:sp>
        <p:nvSpPr>
          <p:cNvPr id="6" name="Text 4"/>
          <p:cNvSpPr txBox="1"/>
          <p:nvPr/>
        </p:nvSpPr>
        <p:spPr>
          <a:xfrm>
            <a:off x="457200" y="1828800"/>
            <a:ext cx="4023360" cy="1371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Thanh trượt X/Y/Z và kéo bóng đèn cùng ghi vào lightPosition</a:t>
            </a:r>
            <a:endParaRPr lang="en-US" sz="1600" dirty="0"/>
          </a:p>
          <a:p>
            <a:pPr marL="342900" indent="-342900">
              <a:spcAft>
                <a:spcPts val="800"/>
              </a:spcAft>
              <a:buSzPct val="100000"/>
              <a:buChar char="•"/>
            </a:pPr>
            <a:r>
              <a:rPr lang="en-US" sz="1600" dirty="0">
                <a:solidFill>
                  <a:schemeClr val="tx1"/>
                </a:solidFill>
              </a:rPr>
              <a:t>Nét đứt chỉ hướng chiếu</a:t>
            </a:r>
            <a:endParaRPr lang="en-US" sz="1600" dirty="0"/>
          </a:p>
          <a:p>
            <a:pPr marL="342900" indent="-342900">
              <a:spcAft>
                <a:spcPts val="800"/>
              </a:spcAft>
              <a:buSzPct val="100000"/>
              <a:buChar char="•"/>
            </a:pPr>
            <a:r>
              <a:rPr lang="en-US" sz="1600" dirty="0">
                <a:solidFill>
                  <a:schemeClr val="tx1"/>
                </a:solidFill>
              </a:rPr>
              <a:t>Bóng đổ đổi theo ngay</a:t>
            </a:r>
            <a:endParaRPr lang="en-US" sz="1600" dirty="0"/>
          </a:p>
        </p:txBody>
      </p:sp>
      <p:sp>
        <p:nvSpPr>
          <p:cNvPr id="7" name="code-bg"/>
          <p:cNvSpPr/>
          <p:nvPr/>
        </p:nvSpPr>
        <p:spPr>
          <a:xfrm>
            <a:off x="457200" y="3291840"/>
            <a:ext cx="4023360" cy="1325880"/>
          </a:xfrm>
          <a:prstGeom prst="roundRect">
            <a:avLst>
              <a:gd name="adj" fmla="val 4138"/>
            </a:avLst>
          </a:prstGeom>
          <a:solidFill>
            <a:schemeClr val="tx2"/>
          </a:solidFill>
          <a:ln w="12700">
            <a:solidFill>
              <a:schemeClr val="tx2"/>
            </a:solidFill>
            <a:prstDash val="solid"/>
          </a:ln>
        </p:spPr>
      </p:sp>
      <p:sp>
        <p:nvSpPr>
          <p:cNvPr id="8" name="code"/>
          <p:cNvSpPr txBox="1"/>
          <p:nvPr/>
        </p:nvSpPr>
        <p:spPr>
          <a:xfrm>
            <a:off x="585216" y="3383280"/>
            <a:ext cx="3767328" cy="1143000"/>
          </a:xfrm>
          <a:prstGeom prst="rect">
            <a:avLst/>
          </a:prstGeom>
          <a:noFill/>
          <a:ln/>
        </p:spPr>
        <p:txBody>
          <a:bodyPr wrap="square" lIns="0" tIns="0" rIns="0" bIns="0" rtlCol="0" anchor="t"/>
          <a:lstStyle/>
          <a:p>
            <a:pPr marL="0" indent="0">
              <a:buNone/>
            </a:pPr>
            <a:r>
              <a:rPr lang="en-US" sz="1100" dirty="0">
                <a:solidFill>
                  <a:schemeClr val="bg2"/>
                </a:solidFill>
                <a:latin typeface="Consolas" pitchFamily="34" charset="0"/>
                <a:ea typeface="Consolas" pitchFamily="34" charset="-122"/>
                <a:cs typeface="Consolas" pitchFamily="34" charset="-120"/>
              </a:rPr>
              <a:t>const [lightPosition, setLightPosition]</a:t>
            </a:r>
            <a:endParaRPr lang="en-US" sz="1100" dirty="0"/>
          </a:p>
          <a:p>
            <a:pPr marL="0" indent="0">
              <a:buNone/>
            </a:pPr>
            <a:r>
              <a:rPr lang="en-US" sz="1100" dirty="0">
                <a:solidFill>
                  <a:schemeClr val="bg2"/>
                </a:solidFill>
                <a:latin typeface="Consolas" pitchFamily="34" charset="0"/>
                <a:ea typeface="Consolas" pitchFamily="34" charset="-122"/>
                <a:cs typeface="Consolas" pitchFamily="34" charset="-120"/>
              </a:rPr>
              <a:t>  = useState([-3, 5, 4]);</a:t>
            </a:r>
            <a:endParaRPr lang="en-US" sz="1100" dirty="0"/>
          </a:p>
          <a:p>
            <a:pPr marL="0" indent="0">
              <a:buNone/>
            </a:pPr>
            <a:endParaRPr lang="en-US" sz="1100" dirty="0"/>
          </a:p>
          <a:p>
            <a:pPr marL="0" indent="0">
              <a:buNone/>
            </a:pPr>
            <a:r>
              <a:rPr lang="en-US" sz="1100" dirty="0">
                <a:solidFill>
                  <a:schemeClr val="bg2"/>
                </a:solidFill>
                <a:latin typeface="Consolas" pitchFamily="34" charset="0"/>
                <a:ea typeface="Consolas" pitchFamily="34" charset="-122"/>
                <a:cs typeface="Consolas" pitchFamily="34" charset="-120"/>
              </a:rPr>
              <a:t>&lt;directionalLight</a:t>
            </a:r>
            <a:endParaRPr lang="en-US" sz="1100" dirty="0"/>
          </a:p>
          <a:p>
            <a:pPr marL="0" indent="0">
              <a:buNone/>
            </a:pPr>
            <a:r>
              <a:rPr lang="en-US" sz="1100" dirty="0">
                <a:solidFill>
                  <a:schemeClr val="bg2"/>
                </a:solidFill>
                <a:latin typeface="Consolas" pitchFamily="34" charset="0"/>
                <a:ea typeface="Consolas" pitchFamily="34" charset="-122"/>
                <a:cs typeface="Consolas" pitchFamily="34" charset="-120"/>
              </a:rPr>
              <a:t>  position={lightPosition} castShadow /&gt;</a:t>
            </a:r>
            <a:endParaRPr lang="en-US" sz="1100" dirty="0"/>
          </a:p>
        </p:txBody>
      </p:sp>
      <p:pic>
        <p:nvPicPr>
          <p:cNvPr id="9" name="shot-light" descr="C:\Users\tgtgcr\AppData\Local\Temp\claude\D--TgProject-Thuong-Bai-tap-ve-nha\3c19403e-e81d-4221-80a3-61a0f7f5d059\scratchpad\deck\img\light.png"/>
          <p:cNvPicPr>
            <a:picLocks noChangeAspect="1"/>
          </p:cNvPicPr>
          <p:nvPr/>
        </p:nvPicPr>
        <p:blipFill>
          <a:blip r:embed="rId3"/>
          <a:stretch>
            <a:fillRect/>
          </a:stretch>
        </p:blipFill>
        <p:spPr>
          <a:xfrm>
            <a:off x="4663440" y="1234440"/>
            <a:ext cx="4023360" cy="3383280"/>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Bước 8: bảng điều khiển</a:t>
            </a:r>
            <a:endParaRPr lang="en-US" sz="3400" dirty="0"/>
          </a:p>
        </p:txBody>
      </p:sp>
      <p:pic>
        <p:nvPicPr>
          <p:cNvPr id="3" name="shot-ui" descr="C:\Users\tgtgcr\AppData\Local\Temp\claude\D--TgProject-Thuong-Bai-tap-ve-nha\3c19403e-e81d-4221-80a3-61a0f7f5d059\scratchpad\deck\img\ui.png"/>
          <p:cNvPicPr>
            <a:picLocks noChangeAspect="1"/>
          </p:cNvPicPr>
          <p:nvPr/>
        </p:nvPicPr>
        <p:blipFill>
          <a:blip r:embed="rId3"/>
          <a:stretch>
            <a:fillRect/>
          </a:stretch>
        </p:blipFill>
        <p:spPr>
          <a:xfrm>
            <a:off x="457200" y="1188720"/>
            <a:ext cx="4572000" cy="2688336"/>
          </a:xfrm>
          <a:prstGeom prst="rect">
            <a:avLst/>
          </a:prstGeom>
        </p:spPr>
      </p:pic>
      <p:sp>
        <p:nvSpPr>
          <p:cNvPr id="4" name="badge-8"/>
          <p:cNvSpPr/>
          <p:nvPr/>
        </p:nvSpPr>
        <p:spPr>
          <a:xfrm>
            <a:off x="5303520" y="1188720"/>
            <a:ext cx="457200" cy="457200"/>
          </a:xfrm>
          <a:prstGeom prst="ellipse">
            <a:avLst/>
          </a:prstGeom>
          <a:solidFill>
            <a:schemeClr val="accent2"/>
          </a:solidFill>
          <a:ln w="12700">
            <a:solidFill>
              <a:schemeClr val="accent2"/>
            </a:solidFill>
            <a:prstDash val="solid"/>
          </a:ln>
        </p:spPr>
      </p:sp>
      <p:sp>
        <p:nvSpPr>
          <p:cNvPr id="5" name="Text 2"/>
          <p:cNvSpPr txBox="1"/>
          <p:nvPr/>
        </p:nvSpPr>
        <p:spPr>
          <a:xfrm>
            <a:off x="5303520" y="1188720"/>
            <a:ext cx="457200" cy="457200"/>
          </a:xfrm>
          <a:prstGeom prst="rect">
            <a:avLst/>
          </a:prstGeom>
          <a:noFill/>
          <a:ln/>
        </p:spPr>
        <p:txBody>
          <a:bodyPr wrap="square" lIns="0" tIns="0" rIns="0" bIns="0" rtlCol="0" anchor="ctr"/>
          <a:lstStyle/>
          <a:p>
            <a:pPr marL="0" indent="0" algn="ctr">
              <a:buNone/>
            </a:pPr>
            <a:r>
              <a:rPr lang="en-US" sz="1600" b="1" dirty="0">
                <a:solidFill>
                  <a:schemeClr val="tx2"/>
                </a:solidFill>
              </a:rPr>
              <a:t>8</a:t>
            </a:r>
            <a:endParaRPr lang="en-US" sz="1600" dirty="0"/>
          </a:p>
        </p:txBody>
      </p:sp>
      <p:sp>
        <p:nvSpPr>
          <p:cNvPr id="6" name="Text 3"/>
          <p:cNvSpPr txBox="1"/>
          <p:nvPr/>
        </p:nvSpPr>
        <p:spPr>
          <a:xfrm>
            <a:off x="5897880" y="1188720"/>
            <a:ext cx="2788920" cy="457200"/>
          </a:xfrm>
          <a:prstGeom prst="rect">
            <a:avLst/>
          </a:prstGeom>
          <a:noFill/>
          <a:ln/>
        </p:spPr>
        <p:txBody>
          <a:bodyPr wrap="square" lIns="0" tIns="0" rIns="0" bIns="0" rtlCol="0" anchor="ctr"/>
          <a:lstStyle/>
          <a:p>
            <a:pPr marL="0" indent="0">
              <a:buNone/>
            </a:pPr>
            <a:r>
              <a:rPr lang="en-US" sz="2000" b="1" dirty="0">
                <a:solidFill>
                  <a:schemeClr val="tx2"/>
                </a:solidFill>
              </a:rPr>
              <a:t>Bảng HTML</a:t>
            </a:r>
            <a:endParaRPr lang="en-US" sz="2000" dirty="0"/>
          </a:p>
        </p:txBody>
      </p:sp>
      <p:sp>
        <p:nvSpPr>
          <p:cNvPr id="7" name="Text 4"/>
          <p:cNvSpPr txBox="1"/>
          <p:nvPr/>
        </p:nvSpPr>
        <p:spPr>
          <a:xfrm>
            <a:off x="5303520" y="1783080"/>
            <a:ext cx="3383280" cy="20116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Nằm ngoài Canvas nhưng vẫn điều khiển cảnh 3D (cùng state)</a:t>
            </a:r>
            <a:endParaRPr lang="en-US" sz="1600" dirty="0"/>
          </a:p>
          <a:p>
            <a:pPr marL="342900" indent="-342900">
              <a:spcAft>
                <a:spcPts val="800"/>
              </a:spcAft>
              <a:buSzPct val="100000"/>
              <a:buChar char="•"/>
            </a:pPr>
            <a:r>
              <a:rPr lang="en-US" sz="1600" dirty="0">
                <a:solidFill>
                  <a:schemeClr val="tx1"/>
                </a:solidFill>
              </a:rPr>
              <a:t>Điện thoại: tự thu gọn, chuyển xuống dưới</a:t>
            </a:r>
            <a:endParaRPr lang="en-US" sz="1600" dirty="0"/>
          </a:p>
        </p:txBody>
      </p:sp>
      <p:sp>
        <p:nvSpPr>
          <p:cNvPr id="8" name="check"/>
          <p:cNvSpPr/>
          <p:nvPr/>
        </p:nvSpPr>
        <p:spPr>
          <a:xfrm>
            <a:off x="457200" y="4023360"/>
            <a:ext cx="8229600" cy="685800"/>
          </a:xfrm>
          <a:prstGeom prst="roundRect">
            <a:avLst>
              <a:gd name="adj" fmla="val 13333"/>
            </a:avLst>
          </a:prstGeom>
          <a:solidFill>
            <a:schemeClr val="bg2"/>
          </a:solidFill>
          <a:ln w="12700">
            <a:solidFill>
              <a:schemeClr val="bg2"/>
            </a:solidFill>
            <a:prstDash val="solid"/>
          </a:ln>
        </p:spPr>
      </p:sp>
      <p:sp>
        <p:nvSpPr>
          <p:cNvPr id="9" name="Text 6"/>
          <p:cNvSpPr txBox="1"/>
          <p:nvPr/>
        </p:nvSpPr>
        <p:spPr>
          <a:xfrm>
            <a:off x="640080" y="4023360"/>
            <a:ext cx="7863840" cy="685800"/>
          </a:xfrm>
          <a:prstGeom prst="rect">
            <a:avLst/>
          </a:prstGeom>
          <a:noFill/>
          <a:ln/>
        </p:spPr>
        <p:txBody>
          <a:bodyPr wrap="square" lIns="0" tIns="0" rIns="0" bIns="0" rtlCol="0" anchor="ctr"/>
          <a:lstStyle/>
          <a:p>
            <a:pPr marL="0" indent="0">
              <a:buNone/>
            </a:pPr>
            <a:r>
              <a:rPr lang="en-US" sz="1500" b="1" dirty="0">
                <a:solidFill>
                  <a:schemeClr val="tx2"/>
                </a:solidFill>
              </a:rPr>
              <a:t>Kiểm tra: </a:t>
            </a:r>
            <a:r>
              <a:rPr lang="en-US" sz="1500" dirty="0">
                <a:solidFill>
                  <a:schemeClr val="tx1"/>
                </a:solidFill>
              </a:rPr>
              <a:t>npm run build thành công · đo vị trí thật: nắp 1.65 ↔ 3, quà 0.8 ↔ 2.2</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400" b="1" dirty="0">
                <a:solidFill>
                  <a:schemeClr val="bg1"/>
                </a:solidFill>
              </a:rPr>
              <a:t>Điều rút ra</a:t>
            </a:r>
            <a:endParaRPr lang="en-US" sz="3400" dirty="0"/>
          </a:p>
        </p:txBody>
      </p:sp>
      <p:sp>
        <p:nvSpPr>
          <p:cNvPr id="3" name="lesson-1"/>
          <p:cNvSpPr/>
          <p:nvPr/>
        </p:nvSpPr>
        <p:spPr>
          <a:xfrm>
            <a:off x="457200" y="1280160"/>
            <a:ext cx="2514600" cy="2514600"/>
          </a:xfrm>
          <a:prstGeom prst="roundRect">
            <a:avLst>
              <a:gd name="adj" fmla="val 3636"/>
            </a:avLst>
          </a:prstGeom>
          <a:solidFill>
            <a:schemeClr val="accent4"/>
          </a:solidFill>
          <a:ln w="12700">
            <a:solidFill>
              <a:schemeClr val="accent4"/>
            </a:solidFill>
            <a:prstDash val="solid"/>
          </a:ln>
        </p:spPr>
      </p:sp>
      <p:sp>
        <p:nvSpPr>
          <p:cNvPr id="4" name="badge-1"/>
          <p:cNvSpPr/>
          <p:nvPr/>
        </p:nvSpPr>
        <p:spPr>
          <a:xfrm>
            <a:off x="658368" y="1463040"/>
            <a:ext cx="457200" cy="457200"/>
          </a:xfrm>
          <a:prstGeom prst="ellipse">
            <a:avLst/>
          </a:prstGeom>
          <a:solidFill>
            <a:schemeClr val="accent2"/>
          </a:solidFill>
          <a:ln w="12700">
            <a:solidFill>
              <a:schemeClr val="accent2"/>
            </a:solidFill>
            <a:prstDash val="solid"/>
          </a:ln>
        </p:spPr>
      </p:sp>
      <p:sp>
        <p:nvSpPr>
          <p:cNvPr id="5" name="Text 3"/>
          <p:cNvSpPr txBox="1"/>
          <p:nvPr/>
        </p:nvSpPr>
        <p:spPr>
          <a:xfrm>
            <a:off x="658368" y="1463040"/>
            <a:ext cx="457200" cy="457200"/>
          </a:xfrm>
          <a:prstGeom prst="rect">
            <a:avLst/>
          </a:prstGeom>
          <a:noFill/>
          <a:ln/>
        </p:spPr>
        <p:txBody>
          <a:bodyPr wrap="square" lIns="0" tIns="0" rIns="0" bIns="0" rtlCol="0" anchor="ctr"/>
          <a:lstStyle/>
          <a:p>
            <a:pPr marL="0" indent="0" algn="ctr">
              <a:buNone/>
            </a:pPr>
            <a:r>
              <a:rPr lang="en-US" sz="1600" b="1" dirty="0">
                <a:solidFill>
                  <a:schemeClr val="tx2"/>
                </a:solidFill>
              </a:rPr>
              <a:t>1</a:t>
            </a:r>
            <a:endParaRPr lang="en-US" sz="1600" dirty="0"/>
          </a:p>
        </p:txBody>
      </p:sp>
      <p:sp>
        <p:nvSpPr>
          <p:cNvPr id="6" name="Text 4"/>
          <p:cNvSpPr txBox="1"/>
          <p:nvPr/>
        </p:nvSpPr>
        <p:spPr>
          <a:xfrm>
            <a:off x="658368" y="2057400"/>
            <a:ext cx="2112264" cy="685800"/>
          </a:xfrm>
          <a:prstGeom prst="rect">
            <a:avLst/>
          </a:prstGeom>
          <a:noFill/>
          <a:ln/>
        </p:spPr>
        <p:txBody>
          <a:bodyPr wrap="square" lIns="0" tIns="0" rIns="0" bIns="0" rtlCol="0" anchor="t"/>
          <a:lstStyle/>
          <a:p>
            <a:pPr marL="0" indent="0">
              <a:buNone/>
            </a:pPr>
            <a:r>
              <a:rPr lang="en-US" sz="1800" b="1" dirty="0">
                <a:solidFill>
                  <a:schemeClr val="bg1"/>
                </a:solidFill>
              </a:rPr>
              <a:t>Đơn giản trước,</a:t>
            </a:r>
            <a:endParaRPr lang="en-US" sz="1800" dirty="0"/>
          </a:p>
          <a:p>
            <a:pPr marL="0" indent="0">
              <a:buNone/>
            </a:pPr>
            <a:r>
              <a:rPr lang="en-US" sz="1800" b="1" dirty="0">
                <a:solidFill>
                  <a:schemeClr val="bg1"/>
                </a:solidFill>
              </a:rPr>
              <a:t>đẹp sau</a:t>
            </a:r>
            <a:endParaRPr lang="en-US" sz="1800" dirty="0"/>
          </a:p>
        </p:txBody>
      </p:sp>
      <p:sp>
        <p:nvSpPr>
          <p:cNvPr id="7" name="Text 5"/>
          <p:cNvSpPr txBox="1"/>
          <p:nvPr/>
        </p:nvSpPr>
        <p:spPr>
          <a:xfrm>
            <a:off x="658368" y="2788920"/>
            <a:ext cx="2112264" cy="914400"/>
          </a:xfrm>
          <a:prstGeom prst="rect">
            <a:avLst/>
          </a:prstGeom>
          <a:noFill/>
          <a:ln/>
        </p:spPr>
        <p:txBody>
          <a:bodyPr wrap="square" lIns="0" tIns="0" rIns="0" bIns="0" rtlCol="0" anchor="t"/>
          <a:lstStyle/>
          <a:p>
            <a:pPr marL="0" indent="0">
              <a:buNone/>
            </a:pPr>
            <a:r>
              <a:rPr lang="en-US" sz="1400" dirty="0">
                <a:solidFill>
                  <a:schemeClr val="accent5"/>
                </a:solidFill>
              </a:rPr>
              <a:t>Viết logic với hình khối, rồi mới thay mô hình GLB.</a:t>
            </a:r>
            <a:endParaRPr lang="en-US" sz="1400" dirty="0"/>
          </a:p>
        </p:txBody>
      </p:sp>
      <p:sp>
        <p:nvSpPr>
          <p:cNvPr id="8" name="lesson-2"/>
          <p:cNvSpPr/>
          <p:nvPr/>
        </p:nvSpPr>
        <p:spPr>
          <a:xfrm>
            <a:off x="3314700" y="1280160"/>
            <a:ext cx="2514600" cy="2514600"/>
          </a:xfrm>
          <a:prstGeom prst="roundRect">
            <a:avLst>
              <a:gd name="adj" fmla="val 3636"/>
            </a:avLst>
          </a:prstGeom>
          <a:solidFill>
            <a:schemeClr val="accent4"/>
          </a:solidFill>
          <a:ln w="12700">
            <a:solidFill>
              <a:schemeClr val="accent4"/>
            </a:solidFill>
            <a:prstDash val="solid"/>
          </a:ln>
        </p:spPr>
      </p:sp>
      <p:sp>
        <p:nvSpPr>
          <p:cNvPr id="9" name="badge-2"/>
          <p:cNvSpPr/>
          <p:nvPr/>
        </p:nvSpPr>
        <p:spPr>
          <a:xfrm>
            <a:off x="3515868" y="1463040"/>
            <a:ext cx="457200" cy="457200"/>
          </a:xfrm>
          <a:prstGeom prst="ellipse">
            <a:avLst/>
          </a:prstGeom>
          <a:solidFill>
            <a:schemeClr val="accent2"/>
          </a:solidFill>
          <a:ln w="12700">
            <a:solidFill>
              <a:schemeClr val="accent2"/>
            </a:solidFill>
            <a:prstDash val="solid"/>
          </a:ln>
        </p:spPr>
      </p:sp>
      <p:sp>
        <p:nvSpPr>
          <p:cNvPr id="10" name="Text 8"/>
          <p:cNvSpPr txBox="1"/>
          <p:nvPr/>
        </p:nvSpPr>
        <p:spPr>
          <a:xfrm>
            <a:off x="3515868" y="1463040"/>
            <a:ext cx="457200" cy="457200"/>
          </a:xfrm>
          <a:prstGeom prst="rect">
            <a:avLst/>
          </a:prstGeom>
          <a:noFill/>
          <a:ln/>
        </p:spPr>
        <p:txBody>
          <a:bodyPr wrap="square" lIns="0" tIns="0" rIns="0" bIns="0" rtlCol="0" anchor="ctr"/>
          <a:lstStyle/>
          <a:p>
            <a:pPr marL="0" indent="0" algn="ctr">
              <a:buNone/>
            </a:pPr>
            <a:r>
              <a:rPr lang="en-US" sz="1600" b="1" dirty="0">
                <a:solidFill>
                  <a:schemeClr val="tx2"/>
                </a:solidFill>
              </a:rPr>
              <a:t>2</a:t>
            </a:r>
            <a:endParaRPr lang="en-US" sz="1600" dirty="0"/>
          </a:p>
        </p:txBody>
      </p:sp>
      <p:sp>
        <p:nvSpPr>
          <p:cNvPr id="11" name="Text 9"/>
          <p:cNvSpPr txBox="1"/>
          <p:nvPr/>
        </p:nvSpPr>
        <p:spPr>
          <a:xfrm>
            <a:off x="3515868" y="2057400"/>
            <a:ext cx="2112264" cy="685800"/>
          </a:xfrm>
          <a:prstGeom prst="rect">
            <a:avLst/>
          </a:prstGeom>
          <a:noFill/>
          <a:ln/>
        </p:spPr>
        <p:txBody>
          <a:bodyPr wrap="square" lIns="0" tIns="0" rIns="0" bIns="0" rtlCol="0" anchor="t"/>
          <a:lstStyle/>
          <a:p>
            <a:pPr marL="0" indent="0">
              <a:buNone/>
            </a:pPr>
            <a:r>
              <a:rPr lang="en-US" sz="1800" b="1" dirty="0">
                <a:solidFill>
                  <a:schemeClr val="bg1"/>
                </a:solidFill>
              </a:rPr>
              <a:t>Một state,</a:t>
            </a:r>
            <a:endParaRPr lang="en-US" sz="1800" dirty="0"/>
          </a:p>
          <a:p>
            <a:pPr marL="0" indent="0">
              <a:buNone/>
            </a:pPr>
            <a:r>
              <a:rPr lang="en-US" sz="1800" b="1" dirty="0">
                <a:solidFill>
                  <a:schemeClr val="bg1"/>
                </a:solidFill>
              </a:rPr>
              <a:t>nhiều vật thể</a:t>
            </a:r>
            <a:endParaRPr lang="en-US" sz="1800" dirty="0"/>
          </a:p>
        </p:txBody>
      </p:sp>
      <p:sp>
        <p:nvSpPr>
          <p:cNvPr id="12" name="Text 10"/>
          <p:cNvSpPr txBox="1"/>
          <p:nvPr/>
        </p:nvSpPr>
        <p:spPr>
          <a:xfrm>
            <a:off x="3515868" y="2788920"/>
            <a:ext cx="2112264" cy="914400"/>
          </a:xfrm>
          <a:prstGeom prst="rect">
            <a:avLst/>
          </a:prstGeom>
          <a:noFill/>
          <a:ln/>
        </p:spPr>
        <p:txBody>
          <a:bodyPr wrap="square" lIns="0" tIns="0" rIns="0" bIns="0" rtlCol="0" anchor="t"/>
          <a:lstStyle/>
          <a:p>
            <a:pPr marL="0" indent="0">
              <a:buNone/>
            </a:pPr>
            <a:r>
              <a:rPr lang="en-US" sz="1400" dirty="0">
                <a:solidFill>
                  <a:schemeClr val="accent5"/>
                </a:solidFill>
              </a:rPr>
              <a:t>opened điều khiển nắp và quà; mọi state nằm ở GiftScene.</a:t>
            </a:r>
            <a:endParaRPr lang="en-US" sz="1400" dirty="0"/>
          </a:p>
        </p:txBody>
      </p:sp>
      <p:sp>
        <p:nvSpPr>
          <p:cNvPr id="13" name="lesson-3"/>
          <p:cNvSpPr/>
          <p:nvPr/>
        </p:nvSpPr>
        <p:spPr>
          <a:xfrm>
            <a:off x="6172200" y="1280160"/>
            <a:ext cx="2514600" cy="2514600"/>
          </a:xfrm>
          <a:prstGeom prst="roundRect">
            <a:avLst>
              <a:gd name="adj" fmla="val 3636"/>
            </a:avLst>
          </a:prstGeom>
          <a:solidFill>
            <a:schemeClr val="accent4"/>
          </a:solidFill>
          <a:ln w="12700">
            <a:solidFill>
              <a:schemeClr val="accent4"/>
            </a:solidFill>
            <a:prstDash val="solid"/>
          </a:ln>
        </p:spPr>
      </p:sp>
      <p:sp>
        <p:nvSpPr>
          <p:cNvPr id="14" name="badge-3"/>
          <p:cNvSpPr/>
          <p:nvPr/>
        </p:nvSpPr>
        <p:spPr>
          <a:xfrm>
            <a:off x="6373368" y="1463040"/>
            <a:ext cx="457200" cy="457200"/>
          </a:xfrm>
          <a:prstGeom prst="ellipse">
            <a:avLst/>
          </a:prstGeom>
          <a:solidFill>
            <a:schemeClr val="accent2"/>
          </a:solidFill>
          <a:ln w="12700">
            <a:solidFill>
              <a:schemeClr val="accent2"/>
            </a:solidFill>
            <a:prstDash val="solid"/>
          </a:ln>
        </p:spPr>
      </p:sp>
      <p:sp>
        <p:nvSpPr>
          <p:cNvPr id="15" name="Text 13"/>
          <p:cNvSpPr txBox="1"/>
          <p:nvPr/>
        </p:nvSpPr>
        <p:spPr>
          <a:xfrm>
            <a:off x="6373368" y="1463040"/>
            <a:ext cx="457200" cy="457200"/>
          </a:xfrm>
          <a:prstGeom prst="rect">
            <a:avLst/>
          </a:prstGeom>
          <a:noFill/>
          <a:ln/>
        </p:spPr>
        <p:txBody>
          <a:bodyPr wrap="square" lIns="0" tIns="0" rIns="0" bIns="0" rtlCol="0" anchor="ctr"/>
          <a:lstStyle/>
          <a:p>
            <a:pPr marL="0" indent="0" algn="ctr">
              <a:buNone/>
            </a:pPr>
            <a:r>
              <a:rPr lang="en-US" sz="1600" b="1" dirty="0">
                <a:solidFill>
                  <a:schemeClr val="tx2"/>
                </a:solidFill>
              </a:rPr>
              <a:t>3</a:t>
            </a:r>
            <a:endParaRPr lang="en-US" sz="1600" dirty="0"/>
          </a:p>
        </p:txBody>
      </p:sp>
      <p:sp>
        <p:nvSpPr>
          <p:cNvPr id="16" name="Text 14"/>
          <p:cNvSpPr txBox="1"/>
          <p:nvPr/>
        </p:nvSpPr>
        <p:spPr>
          <a:xfrm>
            <a:off x="6373368" y="2057400"/>
            <a:ext cx="2112264" cy="685800"/>
          </a:xfrm>
          <a:prstGeom prst="rect">
            <a:avLst/>
          </a:prstGeom>
          <a:noFill/>
          <a:ln/>
        </p:spPr>
        <p:txBody>
          <a:bodyPr wrap="square" lIns="0" tIns="0" rIns="0" bIns="0" rtlCol="0" anchor="t"/>
          <a:lstStyle/>
          <a:p>
            <a:pPr marL="0" indent="0">
              <a:buNone/>
            </a:pPr>
            <a:r>
              <a:rPr lang="en-US" sz="1800" b="1" dirty="0">
                <a:solidFill>
                  <a:schemeClr val="bg1"/>
                </a:solidFill>
              </a:rPr>
              <a:t>Mỗi ý tưởng,</a:t>
            </a:r>
            <a:endParaRPr lang="en-US" sz="1800" dirty="0"/>
          </a:p>
          <a:p>
            <a:pPr marL="0" indent="0">
              <a:buNone/>
            </a:pPr>
            <a:r>
              <a:rPr lang="en-US" sz="1800" b="1" dirty="0">
                <a:solidFill>
                  <a:schemeClr val="bg1"/>
                </a:solidFill>
              </a:rPr>
              <a:t>một kỹ thuật nhỏ</a:t>
            </a:r>
            <a:endParaRPr lang="en-US" sz="1800" dirty="0"/>
          </a:p>
        </p:txBody>
      </p:sp>
      <p:sp>
        <p:nvSpPr>
          <p:cNvPr id="17" name="Text 15"/>
          <p:cNvSpPr txBox="1"/>
          <p:nvPr/>
        </p:nvSpPr>
        <p:spPr>
          <a:xfrm>
            <a:off x="6373368" y="2788920"/>
            <a:ext cx="2112264" cy="914400"/>
          </a:xfrm>
          <a:prstGeom prst="rect">
            <a:avLst/>
          </a:prstGeom>
          <a:noFill/>
          <a:ln/>
        </p:spPr>
        <p:txBody>
          <a:bodyPr wrap="square" lIns="0" tIns="0" rIns="0" bIns="0" rtlCol="0" anchor="t"/>
          <a:lstStyle/>
          <a:p>
            <a:pPr marL="0" indent="0">
              <a:buNone/>
            </a:pPr>
            <a:r>
              <a:rPr lang="en-US" sz="1400" dirty="0">
                <a:solidFill>
                  <a:schemeClr val="accent5"/>
                </a:solidFill>
              </a:rPr>
              <a:t>Xoay → OrbitControls</a:t>
            </a:r>
            <a:endParaRPr lang="en-US" sz="1400" dirty="0"/>
          </a:p>
          <a:p>
            <a:pPr marL="0" indent="0">
              <a:buNone/>
            </a:pPr>
            <a:r>
              <a:rPr lang="en-US" sz="1400" dirty="0">
                <a:solidFill>
                  <a:schemeClr val="accent5"/>
                </a:solidFill>
              </a:rPr>
              <a:t>Đèn → state + gizmo</a:t>
            </a:r>
            <a:endParaRPr lang="en-US" sz="1400" dirty="0"/>
          </a:p>
        </p:txBody>
      </p:sp>
      <p:sp>
        <p:nvSpPr>
          <p:cNvPr id="18" name="Text 16"/>
          <p:cNvSpPr txBox="1"/>
          <p:nvPr/>
        </p:nvSpPr>
        <p:spPr>
          <a:xfrm>
            <a:off x="457200" y="4114800"/>
            <a:ext cx="8229600" cy="502920"/>
          </a:xfrm>
          <a:prstGeom prst="rect">
            <a:avLst/>
          </a:prstGeom>
          <a:noFill/>
          <a:ln/>
        </p:spPr>
        <p:txBody>
          <a:bodyPr wrap="square" lIns="0" tIns="0" rIns="0" bIns="0" rtlCol="0" anchor="ctr"/>
          <a:lstStyle/>
          <a:p>
            <a:pPr marL="0" indent="0">
              <a:buNone/>
            </a:pPr>
            <a:r>
              <a:rPr lang="en-US" sz="2200" i="1" dirty="0">
                <a:solidFill>
                  <a:schemeClr val="accent2"/>
                </a:solidFill>
              </a:rPr>
              <a:t>Cảm ơn mọi người đã lắng nghe!</a:t>
            </a:r>
            <a:endParaRPr lang="en-US" sz="2200" dirty="0"/>
          </a:p>
        </p:txBody>
      </p:sp>
    </p:spTree>
  </p:cSld>
  <p:clrMapOvr>
    <a:masterClrMapping/>
  </p:clrMapOvr>
</p:sld>
</file>

<file path=ppt/theme/theme1.xml><?xml version="1.0" encoding="utf-8"?>
<a:theme xmlns:a="http://schemas.openxmlformats.org/drawingml/2006/main" name="Hop qua 3D">
  <a:themeElements>
    <a:clrScheme name="Hop qua 3D">
      <a:dk1>
        <a:srgbClr val="2B2B2B"/>
      </a:dk1>
      <a:lt1>
        <a:srgbClr val="FFFFFF"/>
      </a:lt1>
      <a:dk2>
        <a:srgbClr val="2A1E2B"/>
      </a:dk2>
      <a:lt2>
        <a:srgbClr val="F7EEF0"/>
      </a:lt2>
      <a:accent1>
        <a:srgbClr val="D6264F"/>
      </a:accent1>
      <a:accent2>
        <a:srgbClr val="F4C542"/>
      </a:accent2>
      <a:accent3>
        <a:srgbClr val="8C1C3A"/>
      </a:accent3>
      <a:accent4>
        <a:srgbClr val="4A3A4B"/>
      </a:accent4>
      <a:accent5>
        <a:srgbClr val="F2B8C6"/>
      </a:accent5>
      <a:accent6>
        <a:srgbClr val="6B6B6B"/>
      </a:accent6>
      <a:hlink>
        <a:srgbClr val="D6264F"/>
      </a:hlink>
      <a:folHlink>
        <a:srgbClr val="8C1C3A"/>
      </a:folHlink>
    </a:clrScheme>
    <a:fontScheme name="Hop qua 3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1008</Words>
  <Application>Microsoft Office PowerPoint</Application>
  <PresentationFormat>On-screen Show (16:9)</PresentationFormat>
  <Paragraphs>157</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游ゴシック</vt:lpstr>
      <vt:lpstr>Arial</vt:lpstr>
      <vt:lpstr>Calibri</vt:lpstr>
      <vt:lpstr>Cambria</vt:lpstr>
      <vt:lpstr>Consolas</vt:lpstr>
      <vt:lpstr>Hop qua 3D</vt:lpstr>
      <vt:lpstr>Hộp quà 3D</vt:lpstr>
      <vt:lpstr>Ý tưởng bắt đầu từ một câu hỏi</vt:lpstr>
      <vt:lpstr>Mỗi ý tưởng, một kỹ thuật</vt:lpstr>
      <vt:lpstr>Cấu trúc code: một nguồn state</vt:lpstr>
      <vt:lpstr>8 bước phát triển</vt:lpstr>
      <vt:lpstr>Bước 1–3: logic với hình khối</vt:lpstr>
      <vt:lpstr>Bước 4–5: mô hình GLB và bóng đổ</vt:lpstr>
      <vt:lpstr>Bước 6: xoay góc nhìn 360°</vt:lpstr>
      <vt:lpstr>Bước 7: Ánh sáng thay đổi được</vt:lpstr>
      <vt:lpstr>Bước 8: bảng điều khiển</vt:lpstr>
      <vt:lpstr>Điều rút ra</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Hộp quà 3D — từ ý tưởng đến code</dc:title>
  <dc:subject>PptxGenJS Presentation</dc:subject>
  <dc:creator>ThuongTran</dc:creator>
  <cp:lastModifiedBy>thuong.tran</cp:lastModifiedBy>
  <cp:revision>9</cp:revision>
  <dcterms:created xsi:type="dcterms:W3CDTF">2026-10-08T16:56:28Z</dcterms:created>
  <dcterms:modified xsi:type="dcterms:W3CDTF">2026-10-09T01:36:47Z</dcterms:modified>
</cp:coreProperties>
</file>